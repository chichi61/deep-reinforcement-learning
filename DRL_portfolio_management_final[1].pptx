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1" r:id="rId2"/>
    <p:sldMasterId id="2147483656" r:id="rId3"/>
    <p:sldMasterId id="2147483659" r:id="rId4"/>
    <p:sldMasterId id="2147483678" r:id="rId5"/>
    <p:sldMasterId id="2147483690" r:id="rId6"/>
  </p:sldMasterIdLst>
  <p:notesMasterIdLst>
    <p:notesMasterId r:id="rId40"/>
  </p:notesMasterIdLst>
  <p:sldIdLst>
    <p:sldId id="256" r:id="rId7"/>
    <p:sldId id="257" r:id="rId8"/>
    <p:sldId id="288" r:id="rId9"/>
    <p:sldId id="258" r:id="rId10"/>
    <p:sldId id="289" r:id="rId11"/>
    <p:sldId id="259" r:id="rId12"/>
    <p:sldId id="290" r:id="rId13"/>
    <p:sldId id="284" r:id="rId14"/>
    <p:sldId id="285" r:id="rId15"/>
    <p:sldId id="262" r:id="rId16"/>
    <p:sldId id="286" r:id="rId17"/>
    <p:sldId id="287" r:id="rId18"/>
    <p:sldId id="265" r:id="rId19"/>
    <p:sldId id="294" r:id="rId20"/>
    <p:sldId id="266" r:id="rId21"/>
    <p:sldId id="291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92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9144000" cy="5143500" type="screen16x9"/>
  <p:notesSz cx="9925050" cy="6665913"/>
  <p:embeddedFontLst>
    <p:embeddedFont>
      <p:font typeface="Cambria Math" panose="02040503050406030204" pitchFamily="18" charset="0"/>
      <p:regular r:id="rId41"/>
    </p:embeddedFont>
    <p:embeddedFont>
      <p:font typeface="Play" panose="02010600030101010101" charset="0"/>
      <p:regular r:id="rId42"/>
      <p:bold r:id="rId43"/>
    </p:embeddedFont>
    <p:embeddedFont>
      <p:font typeface="Roboto Mono" panose="00000009000000000000" pitchFamily="49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4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ivN3DVD6wcAtJqhf3ybBGquEnJ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80AD7A-BE3C-4171-85DA-6927B54DFFC0}" v="33" dt="2025-02-21T06:29:37.485"/>
    <p1510:client id="{E51A1F8D-E284-46DC-9766-6B30E905C665}" v="118" dt="2025-02-21T10:54:22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16" y="60"/>
      </p:cViewPr>
      <p:guideLst>
        <p:guide orient="horz" pos="2164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font" Target="fonts/font3.fntdata"/><Relationship Id="rId48" Type="http://customschemas.google.com/relationships/presentationmetadata" Target="metadata"/><Relationship Id="rId8" Type="http://schemas.openxmlformats.org/officeDocument/2006/relationships/slide" Target="slides/slide2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21901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−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00" tIns="45350" rIns="90700" bIns="453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AA4B03DF-EE1B-4DA7-974D-846E87C9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>
            <a:extLst>
              <a:ext uri="{FF2B5EF4-FFF2-40B4-BE49-F238E27FC236}">
                <a16:creationId xmlns:a16="http://schemas.microsoft.com/office/drawing/2014/main" id="{26543D0D-F2ED-6D1E-75E6-EB7DB6B0BD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:notes">
            <a:extLst>
              <a:ext uri="{FF2B5EF4-FFF2-40B4-BE49-F238E27FC236}">
                <a16:creationId xmlns:a16="http://schemas.microsoft.com/office/drawing/2014/main" id="{367796A5-1EDA-9038-7B56-E20040876A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338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d96214bb3e_3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1613" y="500063"/>
            <a:ext cx="4443412" cy="2498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d96214bb3e_3_165:notes"/>
          <p:cNvSpPr txBox="1">
            <a:spLocks noGrp="1"/>
          </p:cNvSpPr>
          <p:nvPr>
            <p:ph type="body" idx="1"/>
          </p:nvPr>
        </p:nvSpPr>
        <p:spPr>
          <a:xfrm>
            <a:off x="992505" y="3166303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1CD89999-5F0A-1CD0-77F5-1EE09980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>
            <a:extLst>
              <a:ext uri="{FF2B5EF4-FFF2-40B4-BE49-F238E27FC236}">
                <a16:creationId xmlns:a16="http://schemas.microsoft.com/office/drawing/2014/main" id="{4788174A-96BF-DD3C-2CEB-BD737C2042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:notes">
            <a:extLst>
              <a:ext uri="{FF2B5EF4-FFF2-40B4-BE49-F238E27FC236}">
                <a16:creationId xmlns:a16="http://schemas.microsoft.com/office/drawing/2014/main" id="{D19DF429-E506-E603-4B50-D6AF962A83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2800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d96214bb3e_3_492:notes"/>
          <p:cNvSpPr txBox="1">
            <a:spLocks noGrp="1"/>
          </p:cNvSpPr>
          <p:nvPr>
            <p:ph type="body" idx="1"/>
          </p:nvPr>
        </p:nvSpPr>
        <p:spPr>
          <a:xfrm>
            <a:off x="992505" y="3207964"/>
            <a:ext cx="7940100" cy="2624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2d96214bb3e_3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62275" y="833438"/>
            <a:ext cx="4000500" cy="22494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375E97CB-C7A0-96B6-5A90-67BC6EC43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>
            <a:extLst>
              <a:ext uri="{FF2B5EF4-FFF2-40B4-BE49-F238E27FC236}">
                <a16:creationId xmlns:a16="http://schemas.microsoft.com/office/drawing/2014/main" id="{E7213104-BF52-99A0-CCB1-08F338FD8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:notes">
            <a:extLst>
              <a:ext uri="{FF2B5EF4-FFF2-40B4-BE49-F238E27FC236}">
                <a16:creationId xmlns:a16="http://schemas.microsoft.com/office/drawing/2014/main" id="{FE8312BB-B91D-B69C-837E-9F560FD8B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2979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id="{891FC29F-7092-580B-A4ED-666CE0D8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37e78d7b63_6_75:notes">
            <a:extLst>
              <a:ext uri="{FF2B5EF4-FFF2-40B4-BE49-F238E27FC236}">
                <a16:creationId xmlns:a16="http://schemas.microsoft.com/office/drawing/2014/main" id="{33DE3118-EFA5-FB35-18A1-4A546E02D0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5" y="3166303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37e78d7b63_6_75:notes">
            <a:extLst>
              <a:ext uri="{FF2B5EF4-FFF2-40B4-BE49-F238E27FC236}">
                <a16:creationId xmlns:a16="http://schemas.microsoft.com/office/drawing/2014/main" id="{AA6902BC-89EA-59FD-56B1-B6A926FFF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1613" y="500063"/>
            <a:ext cx="4441825" cy="24987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1399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4C5758B0-62AF-2328-0C37-13CE9475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d96214bb3e_2_268:notes">
            <a:extLst>
              <a:ext uri="{FF2B5EF4-FFF2-40B4-BE49-F238E27FC236}">
                <a16:creationId xmlns:a16="http://schemas.microsoft.com/office/drawing/2014/main" id="{52D14610-B967-593A-F71D-B6318C4E0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d96214bb3e_2_268:notes">
            <a:extLst>
              <a:ext uri="{FF2B5EF4-FFF2-40B4-BE49-F238E27FC236}">
                <a16:creationId xmlns:a16="http://schemas.microsoft.com/office/drawing/2014/main" id="{31D6B596-59BA-29F1-4E69-B5E1B11E9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7627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37e78d7b63_6_84:notes"/>
          <p:cNvSpPr txBox="1">
            <a:spLocks noGrp="1"/>
          </p:cNvSpPr>
          <p:nvPr>
            <p:ph type="body" idx="1"/>
          </p:nvPr>
        </p:nvSpPr>
        <p:spPr>
          <a:xfrm>
            <a:off x="992505" y="3166302"/>
            <a:ext cx="7940040" cy="2999655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337e78d7b63_6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6FF920EE-7DD9-0F32-C943-2048FA93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d96214bb3e_2_322:notes">
            <a:extLst>
              <a:ext uri="{FF2B5EF4-FFF2-40B4-BE49-F238E27FC236}">
                <a16:creationId xmlns:a16="http://schemas.microsoft.com/office/drawing/2014/main" id="{3E5E28D2-3818-3478-EB00-BC4D6C40D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g2d96214bb3e_2_322:notes">
            <a:extLst>
              <a:ext uri="{FF2B5EF4-FFF2-40B4-BE49-F238E27FC236}">
                <a16:creationId xmlns:a16="http://schemas.microsoft.com/office/drawing/2014/main" id="{3890CEBB-DCF2-9C4A-C8C4-BB3F0A7C1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9416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>
          <a:extLst>
            <a:ext uri="{FF2B5EF4-FFF2-40B4-BE49-F238E27FC236}">
              <a16:creationId xmlns:a16="http://schemas.microsoft.com/office/drawing/2014/main" id="{45D1D940-34D6-1536-A779-F4C42CDD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d96214bb3e_2_332:notes">
            <a:extLst>
              <a:ext uri="{FF2B5EF4-FFF2-40B4-BE49-F238E27FC236}">
                <a16:creationId xmlns:a16="http://schemas.microsoft.com/office/drawing/2014/main" id="{153A6F16-4CDC-730C-19D2-90203866A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2d96214bb3e_2_332:notes">
            <a:extLst>
              <a:ext uri="{FF2B5EF4-FFF2-40B4-BE49-F238E27FC236}">
                <a16:creationId xmlns:a16="http://schemas.microsoft.com/office/drawing/2014/main" id="{4C674C81-774D-A80E-2981-1AEBFF141B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6286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37e78d7b63_7_2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337e78d7b63_7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37e78d7b63_7_6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337e78d7b63_7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15228400-664C-CAB4-B1DF-7DE6AFCB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>
            <a:extLst>
              <a:ext uri="{FF2B5EF4-FFF2-40B4-BE49-F238E27FC236}">
                <a16:creationId xmlns:a16="http://schemas.microsoft.com/office/drawing/2014/main" id="{681515A2-CE9A-8609-5BD1-B844ED06F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:notes">
            <a:extLst>
              <a:ext uri="{FF2B5EF4-FFF2-40B4-BE49-F238E27FC236}">
                <a16:creationId xmlns:a16="http://schemas.microsoft.com/office/drawing/2014/main" id="{E869F185-31A1-7592-0C3C-5BE328488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8186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37e78d7b63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37e78d7b63_1_2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337e78d7b63_1_2:notes"/>
          <p:cNvSpPr txBox="1">
            <a:spLocks noGrp="1"/>
          </p:cNvSpPr>
          <p:nvPr>
            <p:ph type="sldNum" idx="12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spcFirstLastPara="1" wrap="square" lIns="90700" tIns="45350" rIns="90700" bIns="453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d96214bb3e_2_4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d96214bb3e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d96214bb3e_0_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g2d96214bb3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d96214bb3e_0_27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g2d96214bb3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d96214bb3e_2_36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g2d96214bb3e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d96214bb3e_2_6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g2d96214bb3e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d96214bb3e_2_28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2d96214bb3e_2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>
          <a:extLst>
            <a:ext uri="{FF2B5EF4-FFF2-40B4-BE49-F238E27FC236}">
              <a16:creationId xmlns:a16="http://schemas.microsoft.com/office/drawing/2014/main" id="{77187DE1-1C44-F5B4-DB97-99F3174B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:notes">
            <a:extLst>
              <a:ext uri="{FF2B5EF4-FFF2-40B4-BE49-F238E27FC236}">
                <a16:creationId xmlns:a16="http://schemas.microsoft.com/office/drawing/2014/main" id="{69B21A6A-1515-BD6C-32E9-13A08F896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:notes">
            <a:extLst>
              <a:ext uri="{FF2B5EF4-FFF2-40B4-BE49-F238E27FC236}">
                <a16:creationId xmlns:a16="http://schemas.microsoft.com/office/drawing/2014/main" id="{252E2882-AE14-886C-16D6-63025AAA0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5658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d96214bb3e_2_29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g2d96214bb3e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7e78d7b63_12_44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g337e78d7b63_1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d96214bb3e_4_9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g2d96214bb3e_4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d96214bb3e_4_3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2d96214bb3e_4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d96214bb3e_4_53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g2d96214bb3e_4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d96214bb3e_4_68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g2d96214bb3e_4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3826116eb5_0_10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g33826116eb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d96214bb3e_4_21:notes"/>
          <p:cNvSpPr txBox="1">
            <a:spLocks noGrp="1"/>
          </p:cNvSpPr>
          <p:nvPr>
            <p:ph type="body" idx="1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spcFirstLastPara="1" wrap="square" lIns="90700" tIns="45350" rIns="90700" bIns="453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g2d96214bb3e_4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rt">
  <p:cSld name="1_Star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9" descr="TUM_Glockenturm.t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32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31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rt">
  <p:cSld name="1_Star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47" descr="TUM_Glockenturm.t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7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47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d96214bb3e_3_3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g2d96214bb3e_3_3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g2d96214bb3e_3_3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45700" rIns="0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d96214bb3e_3_32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2d96214bb3e_3_32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2d96214bb3e_3_32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art">
  <p:cSld name="1_Star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8" name="Google Shape;58;p34"/>
          <p:cNvSpPr txBox="1"/>
          <p:nvPr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Chair of High-Power Converter Systems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TUM School of Engineering and Design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halt + Text">
  <p:cSld name="1_Inhalt + 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Inhalt + Text">
  <p:cSld name="4_Inhalt + 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+ Text">
  <p:cSld name="Inhalt +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body" idx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body" idx="2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39"/>
          <p:cNvSpPr txBox="1">
            <a:spLocks noGrp="1"/>
          </p:cNvSpPr>
          <p:nvPr>
            <p:ph type="body" idx="3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alt + Text">
  <p:cSld name="2_Inhalt + 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 txBox="1">
            <a:spLocks noGrp="1"/>
          </p:cNvSpPr>
          <p:nvPr>
            <p:ph type="body" idx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4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8" name="Google Shape;88;p4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0"/>
          <p:cNvSpPr txBox="1">
            <a:spLocks noGrp="1"/>
          </p:cNvSpPr>
          <p:nvPr>
            <p:ph type="body" idx="2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40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wei Inhalte + Text">
  <p:cSld name="1_Zwei Inhalte + 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1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4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4" name="Google Shape;94;p4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1"/>
          <p:cNvSpPr txBox="1">
            <a:spLocks noGrp="1"/>
          </p:cNvSpPr>
          <p:nvPr>
            <p:ph type="body" idx="2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41"/>
          <p:cNvSpPr>
            <a:spLocks noGrp="1"/>
          </p:cNvSpPr>
          <p:nvPr>
            <p:ph type="pic" idx="3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41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wei Inhalte">
  <p:cSld name="1_zwei Inhalt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2"/>
          <p:cNvSpPr txBox="1">
            <a:spLocks noGrp="1"/>
          </p:cNvSpPr>
          <p:nvPr>
            <p:ph type="body" idx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42"/>
          <p:cNvSpPr txBox="1">
            <a:spLocks noGrp="1"/>
          </p:cNvSpPr>
          <p:nvPr>
            <p:ph type="body" idx="2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4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2" name="Google Shape;102;p4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2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Inhalt + Text">
  <p:cSld name="3_Inhalt + 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3"/>
          <p:cNvSpPr txBox="1">
            <a:spLocks noGrp="1"/>
          </p:cNvSpPr>
          <p:nvPr>
            <p:ph type="body" idx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4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7" name="Google Shape;107;p4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3"/>
          <p:cNvSpPr txBox="1">
            <a:spLocks noGrp="1"/>
          </p:cNvSpPr>
          <p:nvPr>
            <p:ph type="body" idx="2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43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große Bilder">
  <p:cSld name="1_große Bilder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2" name="Google Shape;112;p4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4"/>
          <p:cNvSpPr>
            <a:spLocks noGrp="1"/>
          </p:cNvSpPr>
          <p:nvPr>
            <p:ph type="pic" idx="2"/>
          </p:nvPr>
        </p:nvSpPr>
        <p:spPr>
          <a:xfrm>
            <a:off x="0" y="1771076"/>
            <a:ext cx="9144000" cy="3367344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44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44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ilder formatfüllend">
  <p:cSld name="1_Bilder formatfüllend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5"/>
          <p:cNvSpPr>
            <a:spLocks noGrp="1"/>
          </p:cNvSpPr>
          <p:nvPr>
            <p:ph type="pic" idx="2"/>
          </p:nvPr>
        </p:nvSpPr>
        <p:spPr>
          <a:xfrm>
            <a:off x="0" y="1222524"/>
            <a:ext cx="9144000" cy="3920975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4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9" name="Google Shape;119;p4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5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Zwei Inhalte + Text (Hintergrund)">
  <p:cSld name="1_Zwei Inhalte + Text (Hintergrund)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6"/>
          <p:cNvSpPr/>
          <p:nvPr/>
        </p:nvSpPr>
        <p:spPr>
          <a:xfrm>
            <a:off x="0" y="1771076"/>
            <a:ext cx="9144000" cy="3372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4" name="Google Shape;124;p4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6"/>
          <p:cNvSpPr txBox="1">
            <a:spLocks noGrp="1"/>
          </p:cNvSpPr>
          <p:nvPr>
            <p:ph type="body" idx="1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46"/>
          <p:cNvSpPr>
            <a:spLocks noGrp="1"/>
          </p:cNvSpPr>
          <p:nvPr>
            <p:ph type="pic" idx="2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6"/>
          <p:cNvSpPr txBox="1">
            <a:spLocks noGrp="1"/>
          </p:cNvSpPr>
          <p:nvPr>
            <p:ph type="body" idx="3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46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rt">
  <p:cSld name="Star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8"/>
          <p:cNvSpPr txBox="1">
            <a:spLocks noGrp="1"/>
          </p:cNvSpPr>
          <p:nvPr>
            <p:ph type="body" idx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48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3" name="Google Shape;133;p48"/>
          <p:cNvSpPr txBox="1">
            <a:spLocks noGrp="1"/>
          </p:cNvSpPr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">
  <p:cSld name="Inhal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9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9"/>
          <p:cNvSpPr txBox="1">
            <a:spLocks noGrp="1"/>
          </p:cNvSpPr>
          <p:nvPr>
            <p:ph type="body" idx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halt">
  <p:cSld name="1_Inhal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0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">
  <p:cSld name="zwei Inhalt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1"/>
          <p:cNvSpPr txBox="1">
            <a:spLocks noGrp="1"/>
          </p:cNvSpPr>
          <p:nvPr>
            <p:ph type="body" idx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51"/>
          <p:cNvSpPr txBox="1">
            <a:spLocks noGrp="1"/>
          </p:cNvSpPr>
          <p:nvPr>
            <p:ph type="body" idx="2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5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7" name="Google Shape;147;p51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1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51"/>
          <p:cNvSpPr txBox="1">
            <a:spLocks noGrp="1"/>
          </p:cNvSpPr>
          <p:nvPr>
            <p:ph type="body" idx="3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 + Text">
  <p:cSld name="Zwei Inhalte + 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2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52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3" name="Google Shape;153;p52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52"/>
          <p:cNvSpPr txBox="1">
            <a:spLocks noGrp="1"/>
          </p:cNvSpPr>
          <p:nvPr>
            <p:ph type="body" idx="2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52"/>
          <p:cNvSpPr>
            <a:spLocks noGrp="1"/>
          </p:cNvSpPr>
          <p:nvPr>
            <p:ph type="pic" idx="3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52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52"/>
          <p:cNvSpPr txBox="1">
            <a:spLocks noGrp="1"/>
          </p:cNvSpPr>
          <p:nvPr>
            <p:ph type="body" idx="4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ei Inhalte + Text (Hintergrund)">
  <p:cSld name="Zwei Inhalte + Text (Hintergrund)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/>
          <p:nvPr/>
        </p:nvSpPr>
        <p:spPr>
          <a:xfrm>
            <a:off x="0" y="2152650"/>
            <a:ext cx="9144000" cy="29908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1" name="Google Shape;161;p5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3"/>
          <p:cNvSpPr txBox="1">
            <a:spLocks noGrp="1"/>
          </p:cNvSpPr>
          <p:nvPr>
            <p:ph type="body" idx="1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53"/>
          <p:cNvSpPr>
            <a:spLocks noGrp="1"/>
          </p:cNvSpPr>
          <p:nvPr>
            <p:ph type="pic" idx="2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53"/>
          <p:cNvSpPr txBox="1">
            <a:spLocks noGrp="1"/>
          </p:cNvSpPr>
          <p:nvPr>
            <p:ph type="body" idx="3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53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53"/>
          <p:cNvSpPr txBox="1">
            <a:spLocks noGrp="1"/>
          </p:cNvSpPr>
          <p:nvPr>
            <p:ph type="body" idx="4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ße Bilder">
  <p:cSld name="große Bild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9" name="Google Shape;169;p54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54"/>
          <p:cNvSpPr>
            <a:spLocks noGrp="1"/>
          </p:cNvSpPr>
          <p:nvPr>
            <p:ph type="pic" idx="2"/>
          </p:nvPr>
        </p:nvSpPr>
        <p:spPr>
          <a:xfrm>
            <a:off x="0" y="1771076"/>
            <a:ext cx="9144000" cy="3367344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54"/>
          <p:cNvSpPr txBox="1">
            <a:spLocks noGrp="1"/>
          </p:cNvSpPr>
          <p:nvPr>
            <p:ph type="body" idx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54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54"/>
          <p:cNvSpPr txBox="1">
            <a:spLocks noGrp="1"/>
          </p:cNvSpPr>
          <p:nvPr>
            <p:ph type="body" idx="3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lder formatfüllend">
  <p:cSld name="Bilder formatfüllend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5"/>
          <p:cNvSpPr>
            <a:spLocks noGrp="1"/>
          </p:cNvSpPr>
          <p:nvPr>
            <p:ph type="pic" idx="2"/>
          </p:nvPr>
        </p:nvSpPr>
        <p:spPr>
          <a:xfrm>
            <a:off x="0" y="1222524"/>
            <a:ext cx="9144000" cy="3920975"/>
          </a:xfrm>
          <a:prstGeom prst="rect">
            <a:avLst/>
          </a:prstGeom>
          <a:noFill/>
          <a:ln>
            <a:noFill/>
          </a:ln>
        </p:spPr>
      </p:sp>
      <p:sp>
        <p:nvSpPr>
          <p:cNvPr id="176" name="Google Shape;176;p5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7" name="Google Shape;177;p55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55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55"/>
          <p:cNvSpPr txBox="1">
            <a:spLocks noGrp="1"/>
          </p:cNvSpPr>
          <p:nvPr>
            <p:ph type="body" idx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96214bb3e_3_57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g2d96214bb3e_3_57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g2d96214bb3e_3_57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96214bb3e_3_579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g2d96214bb3e_3_57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g2d96214bb3e_3_57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g2d96214bb3e_3_57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g2d96214bb3e_3_57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d96214bb3e_3_58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g2d96214bb3e_3_58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99" name="Google Shape;199;g2d96214bb3e_3_58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g2d96214bb3e_3_58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g2d96214bb3e_3_58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d96214bb3e_3_591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g2d96214bb3e_3_591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5" name="Google Shape;205;g2d96214bb3e_3_59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g2d96214bb3e_3_59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g2d96214bb3e_3_59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96214bb3e_3_59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g2d96214bb3e_3_59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211" name="Google Shape;211;g2d96214bb3e_3_59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212" name="Google Shape;212;g2d96214bb3e_3_59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g2d96214bb3e_3_59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g2d96214bb3e_3_59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96214bb3e_3_60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g2d96214bb3e_3_604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218" name="Google Shape;218;g2d96214bb3e_3_604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219" name="Google Shape;219;g2d96214bb3e_3_604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220" name="Google Shape;220;g2d96214bb3e_3_604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221" name="Google Shape;221;g2d96214bb3e_3_60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g2d96214bb3e_3_60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g2d96214bb3e_3_60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96214bb3e_3_6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g2d96214bb3e_3_6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g2d96214bb3e_3_6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g2d96214bb3e_3_6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96214bb3e_3_618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g2d96214bb3e_3_618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232" name="Google Shape;232;g2d96214bb3e_3_618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233" name="Google Shape;233;g2d96214bb3e_3_6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g2d96214bb3e_3_6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g2d96214bb3e_3_6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96214bb3e_3_625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g2d96214bb3e_3_625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g2d96214bb3e_3_625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240" name="Google Shape;240;g2d96214bb3e_3_62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g2d96214bb3e_3_62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g2d96214bb3e_3_62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d96214bb3e_3_63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g2d96214bb3e_3_632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g2d96214bb3e_3_63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g2d96214bb3e_3_63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g2d96214bb3e_3_63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d96214bb3e_3_638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g2d96214bb3e_3_638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252" name="Google Shape;252;g2d96214bb3e_3_63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g2d96214bb3e_3_63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g2d96214bb3e_3_63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7e78d7b63_6_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g337e78d7b63_6_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64" name="Google Shape;264;g337e78d7b63_6_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g337e78d7b63_6_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g337e78d7b63_6_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7e78d7b63_6_1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g337e78d7b63_6_1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g337e78d7b63_6_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g337e78d7b63_6_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g337e78d7b63_6_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37e78d7b63_6_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g337e78d7b63_6_1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g337e78d7b63_6_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g337e78d7b63_6_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g337e78d7b63_6_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7e78d7b63_6_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g337e78d7b63_6_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g337e78d7b63_6_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g337e78d7b63_6_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g337e78d7b63_6_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g337e78d7b63_6_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7e78d7b63_6_31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g337e78d7b63_6_31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89" name="Google Shape;289;g337e78d7b63_6_31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g337e78d7b63_6_31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91" name="Google Shape;291;g337e78d7b63_6_31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g337e78d7b63_6_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g337e78d7b63_6_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g337e78d7b63_6_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7e78d7b63_6_4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g337e78d7b63_6_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g337e78d7b63_6_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g337e78d7b63_6_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7e78d7b63_6_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g337e78d7b63_6_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g337e78d7b63_6_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37e78d7b63_6_4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g337e78d7b63_6_49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07" name="Google Shape;307;g337e78d7b63_6_4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8" name="Google Shape;308;g337e78d7b63_6_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g337e78d7b63_6_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g337e78d7b63_6_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37e78d7b63_6_5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g337e78d7b63_6_56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g337e78d7b63_6_5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5" name="Google Shape;315;g337e78d7b63_6_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g337e78d7b63_6_5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g337e78d7b63_6_5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7e78d7b63_6_6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g337e78d7b63_6_6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1" name="Google Shape;321;g337e78d7b63_6_6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g337e78d7b63_6_6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g337e78d7b63_6_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7e78d7b63_6_69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g337e78d7b63_6_69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7" name="Google Shape;327;g337e78d7b63_6_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g337e78d7b63_6_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g337e78d7b63_6_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" name="Google Shape;12;p28" descr="20150416 tum logo blau png final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8"/>
          <p:cNvSpPr txBox="1"/>
          <p:nvPr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Chair of High-Power Converter Systems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TUM School of Engineering and Design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8" name="Google Shape;28;p30" descr="20150416 tum logo blau png final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18800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33" descr="Fahnen_HG.jpg"/>
          <p:cNvPicPr preferRelativeResize="0"/>
          <p:nvPr/>
        </p:nvPicPr>
        <p:blipFill rotWithShape="1">
          <a:blip r:embed="rId4">
            <a:alphaModFix/>
          </a:blip>
          <a:srcRect l="398" t="14166" b="1083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3" descr="20150416 tum logo blau png final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18800" y="324000"/>
            <a:ext cx="599513" cy="32028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36" descr="20150416 tum logo blau png final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96214bb3e_3_56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182" name="Google Shape;182;g2d96214bb3e_3_569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" name="Google Shape;183;g2d96214bb3e_3_56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4" name="Google Shape;184;g2d96214bb3e_3_56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5" name="Google Shape;185;g2d96214bb3e_3_56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7e78d7b63_6_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257" name="Google Shape;257;g337e78d7b63_6_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g337e78d7b63_6_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g337e78d7b63_6_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0" name="Google Shape;260;g337e78d7b63_6_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0.png"/><Relationship Id="rId5" Type="http://schemas.openxmlformats.org/officeDocument/2006/relationships/image" Target="../media/image9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0.png"/><Relationship Id="rId4" Type="http://schemas.openxmlformats.org/officeDocument/2006/relationships/image" Target="../media/image30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"/>
          <p:cNvSpPr txBox="1">
            <a:spLocks noGrp="1"/>
          </p:cNvSpPr>
          <p:nvPr>
            <p:ph type="title"/>
          </p:nvPr>
        </p:nvSpPr>
        <p:spPr>
          <a:xfrm>
            <a:off x="329875" y="1211425"/>
            <a:ext cx="8898300" cy="8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71428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de-DE" sz="2700" b="1" dirty="0">
                <a:solidFill>
                  <a:srgbClr val="060607"/>
                </a:solidFill>
                <a:highlight>
                  <a:schemeClr val="lt1"/>
                </a:highlight>
              </a:rPr>
              <a:t>TD3 </a:t>
            </a:r>
            <a:r>
              <a:rPr lang="de-DE" sz="2700" b="1" dirty="0" err="1">
                <a:solidFill>
                  <a:srgbClr val="060607"/>
                </a:solidFill>
                <a:highlight>
                  <a:schemeClr val="lt1"/>
                </a:highlight>
              </a:rPr>
              <a:t>Algorithm</a:t>
            </a:r>
            <a:r>
              <a:rPr lang="de-DE" sz="2700" b="1" dirty="0">
                <a:solidFill>
                  <a:srgbClr val="060607"/>
                </a:solidFill>
                <a:highlight>
                  <a:schemeClr val="lt1"/>
                </a:highlight>
              </a:rPr>
              <a:t> </a:t>
            </a:r>
            <a:r>
              <a:rPr lang="de-DE" sz="2700" b="1" dirty="0" err="1">
                <a:solidFill>
                  <a:srgbClr val="060607"/>
                </a:solidFill>
                <a:highlight>
                  <a:schemeClr val="lt1"/>
                </a:highlight>
              </a:rPr>
              <a:t>for</a:t>
            </a:r>
            <a:r>
              <a:rPr lang="de-DE" sz="2700" b="1" dirty="0">
                <a:solidFill>
                  <a:srgbClr val="060607"/>
                </a:solidFill>
                <a:highlight>
                  <a:schemeClr val="lt1"/>
                </a:highlight>
              </a:rPr>
              <a:t> </a:t>
            </a:r>
            <a:r>
              <a:rPr lang="de-DE" sz="2700" b="1" dirty="0">
                <a:solidFill>
                  <a:srgbClr val="060607"/>
                </a:solidFill>
                <a:highlight>
                  <a:srgbClr val="FFFFFF"/>
                </a:highlight>
              </a:rPr>
              <a:t>Portfolio Management </a:t>
            </a:r>
            <a:endParaRPr sz="2700" b="1" dirty="0"/>
          </a:p>
        </p:txBody>
      </p:sp>
      <p:sp>
        <p:nvSpPr>
          <p:cNvPr id="335" name="Google Shape;335;p1"/>
          <p:cNvSpPr txBox="1"/>
          <p:nvPr/>
        </p:nvSpPr>
        <p:spPr>
          <a:xfrm>
            <a:off x="715050" y="2842575"/>
            <a:ext cx="4449000" cy="18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Group Members: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Jing 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Kexin</a:t>
            </a:r>
            <a:r>
              <a:rPr lang="de-DE" dirty="0"/>
              <a:t> Zhao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Osman </a:t>
            </a:r>
            <a:r>
              <a:rPr lang="de-DE" dirty="0" err="1"/>
              <a:t>Huzur</a:t>
            </a:r>
            <a:r>
              <a:rPr lang="de-DE" dirty="0"/>
              <a:t> Solmaz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Sude </a:t>
            </a:r>
            <a:r>
              <a:rPr lang="de-DE" dirty="0" err="1"/>
              <a:t>Dübek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7" name="Google Shape;337;p1"/>
          <p:cNvSpPr txBox="1"/>
          <p:nvPr/>
        </p:nvSpPr>
        <p:spPr>
          <a:xfrm>
            <a:off x="1183500" y="1950010"/>
            <a:ext cx="4127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b="1" dirty="0">
                <a:solidFill>
                  <a:schemeClr val="dk2"/>
                </a:solidFill>
              </a:rPr>
              <a:t>-Deep Reinforcement Learning-</a:t>
            </a:r>
            <a:endParaRPr sz="2000" b="1" dirty="0">
              <a:solidFill>
                <a:schemeClr val="dk2"/>
              </a:solidFill>
            </a:endParaRPr>
          </a:p>
        </p:txBody>
      </p:sp>
      <p:sp>
        <p:nvSpPr>
          <p:cNvPr id="338" name="Google Shape;338;p1"/>
          <p:cNvSpPr txBox="1">
            <a:spLocks noGrp="1"/>
          </p:cNvSpPr>
          <p:nvPr>
            <p:ph type="ftr" idx="4294967295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pic>
        <p:nvPicPr>
          <p:cNvPr id="3" name="图形 2" descr="集体讨论 轮廓">
            <a:extLst>
              <a:ext uri="{FF2B5EF4-FFF2-40B4-BE49-F238E27FC236}">
                <a16:creationId xmlns:a16="http://schemas.microsoft.com/office/drawing/2014/main" id="{2FB8C369-ACA4-587A-67DF-6400BE3DD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875" y="3033043"/>
            <a:ext cx="410495" cy="410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"/>
          <p:cNvSpPr txBox="1">
            <a:spLocks noGrp="1"/>
          </p:cNvSpPr>
          <p:nvPr>
            <p:ph type="title"/>
          </p:nvPr>
        </p:nvSpPr>
        <p:spPr>
          <a:xfrm>
            <a:off x="317540" y="979538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300" b="1"/>
              <a:t>Content</a:t>
            </a:r>
            <a:endParaRPr sz="3300" b="1"/>
          </a:p>
        </p:txBody>
      </p:sp>
      <p:sp>
        <p:nvSpPr>
          <p:cNvPr id="344" name="Google Shape;344;p4"/>
          <p:cNvSpPr txBox="1">
            <a:spLocks noGrp="1"/>
          </p:cNvSpPr>
          <p:nvPr>
            <p:ph type="body" idx="1"/>
          </p:nvPr>
        </p:nvSpPr>
        <p:spPr>
          <a:xfrm>
            <a:off x="317550" y="1797726"/>
            <a:ext cx="8508900" cy="22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❖"/>
            </a:pPr>
            <a:r>
              <a:rPr lang="de-DE" sz="2300" dirty="0" err="1"/>
              <a:t>Introduction</a:t>
            </a:r>
            <a:endParaRPr sz="2300" dirty="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❖"/>
            </a:pPr>
            <a:r>
              <a:rPr lang="de-DE" sz="2300" dirty="0" err="1"/>
              <a:t>Methodology</a:t>
            </a:r>
            <a:endParaRPr sz="2300" dirty="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❖"/>
            </a:pPr>
            <a:r>
              <a:rPr lang="de-DE" sz="2300" dirty="0"/>
              <a:t>Problem Definition</a:t>
            </a:r>
            <a:endParaRPr sz="2300" dirty="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❖"/>
            </a:pPr>
            <a:r>
              <a:rPr lang="de-DE" sz="2300" dirty="0"/>
              <a:t>Model Building</a:t>
            </a:r>
            <a:endParaRPr sz="2300" dirty="0"/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❖"/>
            </a:pPr>
            <a:r>
              <a:rPr lang="de-DE" sz="2300" dirty="0" err="1"/>
              <a:t>Conclusion</a:t>
            </a:r>
            <a:endParaRPr sz="23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/>
          </a:p>
        </p:txBody>
      </p:sp>
      <p:sp>
        <p:nvSpPr>
          <p:cNvPr id="345" name="Google Shape;345;p4"/>
          <p:cNvSpPr txBox="1">
            <a:spLocks noGrp="1"/>
          </p:cNvSpPr>
          <p:nvPr>
            <p:ph type="ftr" idx="4294967295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Deep Reinforcement Learning | Tutor: </a:t>
            </a:r>
            <a:r>
              <a:rPr lang="de-DE" dirty="0" err="1"/>
              <a:t>Maotong</a:t>
            </a:r>
            <a:r>
              <a:rPr lang="de-DE" dirty="0"/>
              <a:t> Sun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1421EE9B-E29D-AAA9-6A22-1E029189D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">
            <a:extLst>
              <a:ext uri="{FF2B5EF4-FFF2-40B4-BE49-F238E27FC236}">
                <a16:creationId xmlns:a16="http://schemas.microsoft.com/office/drawing/2014/main" id="{8076C2F4-02B6-2542-03E9-C7058435A9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80" y="2195550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b="1" dirty="0" err="1"/>
              <a:t>Introduction</a:t>
            </a:r>
            <a:endParaRPr sz="4000" b="1" dirty="0"/>
          </a:p>
        </p:txBody>
      </p:sp>
      <p:sp>
        <p:nvSpPr>
          <p:cNvPr id="345" name="Google Shape;345;p4">
            <a:extLst>
              <a:ext uri="{FF2B5EF4-FFF2-40B4-BE49-F238E27FC236}">
                <a16:creationId xmlns:a16="http://schemas.microsoft.com/office/drawing/2014/main" id="{F6B5C274-DFE6-AA4C-1140-AA75C78268E3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Deep Reinforcement Learning | Tutor: </a:t>
            </a:r>
            <a:r>
              <a:rPr lang="de-DE" dirty="0" err="1"/>
              <a:t>Maotong</a:t>
            </a:r>
            <a:r>
              <a:rPr lang="de-DE" dirty="0"/>
              <a:t> Sun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013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d96214bb3e_3_165"/>
          <p:cNvSpPr txBox="1">
            <a:spLocks noGrp="1"/>
          </p:cNvSpPr>
          <p:nvPr>
            <p:ph type="body" idx="1"/>
          </p:nvPr>
        </p:nvSpPr>
        <p:spPr>
          <a:xfrm>
            <a:off x="199120" y="942560"/>
            <a:ext cx="7957200" cy="3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b="1" dirty="0">
                <a:solidFill>
                  <a:schemeClr val="dk1"/>
                </a:solidFill>
              </a:rPr>
              <a:t>Finance Environment: </a:t>
            </a:r>
            <a:endParaRPr b="1" dirty="0">
              <a:solidFill>
                <a:schemeClr val="dk1"/>
              </a:solidFill>
            </a:endParaRPr>
          </a:p>
          <a:p>
            <a:pPr marL="9144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de-DE" sz="1200" dirty="0">
                <a:solidFill>
                  <a:schemeClr val="dk1"/>
                </a:solidFill>
              </a:rPr>
              <a:t>Dynamic, </a:t>
            </a:r>
            <a:r>
              <a:rPr lang="de-DE" sz="1200" dirty="0" err="1">
                <a:solidFill>
                  <a:schemeClr val="dk1"/>
                </a:solidFill>
              </a:rPr>
              <a:t>complex</a:t>
            </a:r>
            <a:r>
              <a:rPr lang="de-DE" sz="1200" dirty="0">
                <a:solidFill>
                  <a:schemeClr val="dk1"/>
                </a:solidFill>
              </a:rPr>
              <a:t>, and </a:t>
            </a:r>
            <a:r>
              <a:rPr lang="de-DE" sz="1200" b="1" dirty="0">
                <a:solidFill>
                  <a:schemeClr val="dk1"/>
                </a:solidFill>
              </a:rPr>
              <a:t>large-dimensional</a:t>
            </a:r>
            <a:endParaRPr sz="1200" b="1" dirty="0">
              <a:solidFill>
                <a:schemeClr val="dk1"/>
              </a:solidFill>
            </a:endParaRPr>
          </a:p>
          <a:p>
            <a:pPr marL="9144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de-DE" sz="1200" b="1" dirty="0" err="1">
                <a:solidFill>
                  <a:schemeClr val="dk1"/>
                </a:solidFill>
              </a:rPr>
              <a:t>Nonlinear</a:t>
            </a:r>
            <a:r>
              <a:rPr lang="de-DE" sz="1200" b="1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relationships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between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state</a:t>
            </a:r>
            <a:r>
              <a:rPr lang="de-DE" sz="1200" dirty="0">
                <a:solidFill>
                  <a:schemeClr val="dk1"/>
                </a:solidFill>
              </a:rPr>
              <a:t> and </a:t>
            </a:r>
            <a:r>
              <a:rPr lang="de-DE" sz="1200" dirty="0" err="1">
                <a:solidFill>
                  <a:schemeClr val="dk1"/>
                </a:solidFill>
              </a:rPr>
              <a:t>action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spaces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b="1" dirty="0">
                <a:solidFill>
                  <a:schemeClr val="dk1"/>
                </a:solidFill>
              </a:rPr>
              <a:t>Research Background: </a:t>
            </a:r>
            <a:endParaRPr b="1" dirty="0">
              <a:solidFill>
                <a:schemeClr val="dk1"/>
              </a:solidFill>
            </a:endParaRPr>
          </a:p>
          <a:p>
            <a:pPr marL="9144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de-DE" sz="1200" dirty="0">
                <a:solidFill>
                  <a:schemeClr val="dk1"/>
                </a:solidFill>
              </a:rPr>
              <a:t>Reinforcement </a:t>
            </a:r>
            <a:r>
              <a:rPr lang="de-DE" sz="1200" dirty="0" err="1">
                <a:solidFill>
                  <a:schemeClr val="dk1"/>
                </a:solidFill>
              </a:rPr>
              <a:t>learning</a:t>
            </a:r>
            <a:r>
              <a:rPr lang="de-DE" sz="1200" dirty="0">
                <a:solidFill>
                  <a:schemeClr val="dk1"/>
                </a:solidFill>
              </a:rPr>
              <a:t> and </a:t>
            </a:r>
            <a:r>
              <a:rPr lang="de-DE" sz="1200" dirty="0" err="1">
                <a:solidFill>
                  <a:schemeClr val="dk1"/>
                </a:solidFill>
              </a:rPr>
              <a:t>deep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learning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methods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have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been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widely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used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to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solve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portfolio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selection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optimization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problems</a:t>
            </a:r>
            <a:r>
              <a:rPr lang="de-DE" sz="1200" dirty="0"/>
              <a:t>. </a:t>
            </a:r>
            <a:endParaRPr sz="1200" dirty="0">
              <a:solidFill>
                <a:schemeClr val="dk1"/>
              </a:solidFill>
            </a:endParaRPr>
          </a:p>
          <a:p>
            <a:pPr marL="9144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de-DE" sz="1200" dirty="0" err="1">
                <a:solidFill>
                  <a:schemeClr val="dk1"/>
                </a:solidFill>
              </a:rPr>
              <a:t>Except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to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consider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portfolio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return</a:t>
            </a:r>
            <a:r>
              <a:rPr lang="de-DE" sz="1200" dirty="0">
                <a:solidFill>
                  <a:schemeClr val="dk1"/>
                </a:solidFill>
              </a:rPr>
              <a:t>, additional </a:t>
            </a:r>
            <a:r>
              <a:rPr lang="de-DE" sz="1200" dirty="0" err="1">
                <a:solidFill>
                  <a:schemeClr val="dk1"/>
                </a:solidFill>
              </a:rPr>
              <a:t>factors</a:t>
            </a:r>
            <a:r>
              <a:rPr lang="de-DE" sz="1200" dirty="0">
                <a:solidFill>
                  <a:schemeClr val="dk1"/>
                </a:solidFill>
              </a:rPr>
              <a:t> such </a:t>
            </a:r>
            <a:r>
              <a:rPr lang="de-DE" sz="1200" dirty="0" err="1">
                <a:solidFill>
                  <a:schemeClr val="dk1"/>
                </a:solidFill>
              </a:rPr>
              <a:t>as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b="1" dirty="0" err="1">
                <a:solidFill>
                  <a:schemeClr val="dk1"/>
                </a:solidFill>
              </a:rPr>
              <a:t>transaction</a:t>
            </a:r>
            <a:r>
              <a:rPr lang="de-DE" sz="1200" b="1" dirty="0">
                <a:solidFill>
                  <a:schemeClr val="dk1"/>
                </a:solidFill>
              </a:rPr>
              <a:t> </a:t>
            </a:r>
            <a:r>
              <a:rPr lang="de-DE" sz="1200" b="1" dirty="0" err="1">
                <a:solidFill>
                  <a:schemeClr val="dk1"/>
                </a:solidFill>
              </a:rPr>
              <a:t>costs</a:t>
            </a:r>
            <a:r>
              <a:rPr lang="de-DE" sz="1200" b="1" dirty="0">
                <a:solidFill>
                  <a:schemeClr val="dk1"/>
                </a:solidFill>
              </a:rPr>
              <a:t> </a:t>
            </a:r>
            <a:r>
              <a:rPr lang="de-DE" sz="1200" dirty="0">
                <a:solidFill>
                  <a:schemeClr val="dk1"/>
                </a:solidFill>
              </a:rPr>
              <a:t>and </a:t>
            </a:r>
            <a:r>
              <a:rPr lang="de-DE" sz="1200" dirty="0" err="1">
                <a:solidFill>
                  <a:schemeClr val="dk1"/>
                </a:solidFill>
              </a:rPr>
              <a:t>investor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b="1" dirty="0" err="1">
                <a:solidFill>
                  <a:schemeClr val="dk1"/>
                </a:solidFill>
              </a:rPr>
              <a:t>risk</a:t>
            </a:r>
            <a:r>
              <a:rPr lang="de-DE" sz="1200" b="1" dirty="0">
                <a:solidFill>
                  <a:schemeClr val="dk1"/>
                </a:solidFill>
              </a:rPr>
              <a:t> </a:t>
            </a:r>
            <a:r>
              <a:rPr lang="de-DE" sz="1200" b="1" dirty="0" err="1">
                <a:solidFill>
                  <a:schemeClr val="dk1"/>
                </a:solidFill>
              </a:rPr>
              <a:t>tolerance</a:t>
            </a:r>
            <a:r>
              <a:rPr lang="de-DE" sz="1200" b="1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have</a:t>
            </a:r>
            <a:r>
              <a:rPr lang="de-DE" sz="1200" dirty="0">
                <a:solidFill>
                  <a:schemeClr val="dk1"/>
                </a:solidFill>
              </a:rPr>
              <a:t> also </a:t>
            </a:r>
            <a:r>
              <a:rPr lang="de-DE" sz="1200" dirty="0" err="1">
                <a:solidFill>
                  <a:schemeClr val="dk1"/>
                </a:solidFill>
              </a:rPr>
              <a:t>been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included</a:t>
            </a:r>
            <a:endParaRPr lang="de-DE" sz="1200" dirty="0">
              <a:solidFill>
                <a:schemeClr val="dk1"/>
              </a:solidFill>
            </a:endParaRPr>
          </a:p>
          <a:p>
            <a:pPr marL="609600" lvl="1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de-DE" sz="1200" dirty="0">
              <a:solidFill>
                <a:schemeClr val="dk1"/>
              </a:solidFill>
            </a:endParaRPr>
          </a:p>
          <a:p>
            <a:pPr marL="609600" lvl="1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lang="en-US" sz="1200" dirty="0"/>
          </a:p>
          <a:p>
            <a:pPr marL="609600" lvl="1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sz="1200" dirty="0"/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de-DE" b="1" dirty="0">
                <a:solidFill>
                  <a:schemeClr val="dk1"/>
                </a:solidFill>
              </a:rPr>
              <a:t>Motivation:</a:t>
            </a:r>
            <a:endParaRPr b="1" dirty="0">
              <a:solidFill>
                <a:schemeClr val="dk1"/>
              </a:solidFill>
            </a:endParaRPr>
          </a:p>
          <a:p>
            <a:pPr marL="91440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altLang="zh-CN" sz="1200" dirty="0">
                <a:solidFill>
                  <a:schemeClr val="dk1"/>
                </a:solidFill>
              </a:rPr>
              <a:t>A</a:t>
            </a:r>
            <a:r>
              <a:rPr lang="en-US" sz="1200" dirty="0">
                <a:solidFill>
                  <a:schemeClr val="dk1"/>
                </a:solidFill>
              </a:rPr>
              <a:t>im to develop an optimal investment policy for investors by utilizing the more advanced TD3 model while integrating transaction costs and risk aversion costs.</a:t>
            </a:r>
          </a:p>
        </p:txBody>
      </p:sp>
      <p:sp>
        <p:nvSpPr>
          <p:cNvPr id="350" name="Google Shape;350;g2d96214bb3e_3_165"/>
          <p:cNvSpPr txBox="1">
            <a:spLocks noGrp="1"/>
          </p:cNvSpPr>
          <p:nvPr>
            <p:ph type="title"/>
          </p:nvPr>
        </p:nvSpPr>
        <p:spPr>
          <a:xfrm>
            <a:off x="311700" y="363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000" dirty="0" err="1"/>
              <a:t>Introduction</a:t>
            </a:r>
            <a:endParaRPr sz="3000" dirty="0"/>
          </a:p>
        </p:txBody>
      </p:sp>
      <p:sp>
        <p:nvSpPr>
          <p:cNvPr id="353" name="Google Shape;353;g2d96214bb3e_3_165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  <p:sp>
        <p:nvSpPr>
          <p:cNvPr id="3" name="Google Shape;434;g2d96214bb3e_2_322">
            <a:extLst>
              <a:ext uri="{FF2B5EF4-FFF2-40B4-BE49-F238E27FC236}">
                <a16:creationId xmlns:a16="http://schemas.microsoft.com/office/drawing/2014/main" id="{FB289BFF-019A-5E56-1905-38244F6D2326}"/>
              </a:ext>
            </a:extLst>
          </p:cNvPr>
          <p:cNvSpPr txBox="1">
            <a:spLocks/>
          </p:cNvSpPr>
          <p:nvPr/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Presentation for Deep Reinforcement Learning | Tutor: Maotong Sun</a:t>
            </a:r>
          </a:p>
        </p:txBody>
      </p:sp>
      <p:pic>
        <p:nvPicPr>
          <p:cNvPr id="1026" name="Picture 2" descr="Fig. 1">
            <a:extLst>
              <a:ext uri="{FF2B5EF4-FFF2-40B4-BE49-F238E27FC236}">
                <a16:creationId xmlns:a16="http://schemas.microsoft.com/office/drawing/2014/main" id="{BE57BFB7-20F0-0E1C-0FB3-7273A035B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730" y="2848778"/>
            <a:ext cx="4244611" cy="126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D9BE070F-311C-7F72-08B7-426BD812D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">
            <a:extLst>
              <a:ext uri="{FF2B5EF4-FFF2-40B4-BE49-F238E27FC236}">
                <a16:creationId xmlns:a16="http://schemas.microsoft.com/office/drawing/2014/main" id="{24C2A420-382D-7B16-3E7B-490B67F27B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80" y="2195550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b="1" dirty="0" err="1"/>
              <a:t>Methodology</a:t>
            </a:r>
            <a:endParaRPr lang="de-DE" sz="4000" b="1" dirty="0"/>
          </a:p>
        </p:txBody>
      </p:sp>
      <p:sp>
        <p:nvSpPr>
          <p:cNvPr id="345" name="Google Shape;345;p4">
            <a:extLst>
              <a:ext uri="{FF2B5EF4-FFF2-40B4-BE49-F238E27FC236}">
                <a16:creationId xmlns:a16="http://schemas.microsoft.com/office/drawing/2014/main" id="{C46B0BA9-3BF3-8CCA-E7BA-33EA6EFB0C8B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Deep Reinforcement Learning | Tutor: </a:t>
            </a:r>
            <a:r>
              <a:rPr lang="de-DE" dirty="0" err="1"/>
              <a:t>Maotong</a:t>
            </a:r>
            <a:r>
              <a:rPr lang="de-DE" dirty="0"/>
              <a:t> Sun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886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d96214bb3e_3_492"/>
          <p:cNvSpPr/>
          <p:nvPr/>
        </p:nvSpPr>
        <p:spPr>
          <a:xfrm>
            <a:off x="311638" y="988800"/>
            <a:ext cx="8519100" cy="560400"/>
          </a:xfrm>
          <a:prstGeom prst="roundRect">
            <a:avLst>
              <a:gd name="adj" fmla="val 16667"/>
            </a:avLst>
          </a:prstGeom>
          <a:solidFill>
            <a:srgbClr val="366092"/>
          </a:solidFill>
          <a:ln w="12700" cap="flat" cmpd="sng">
            <a:solidFill>
              <a:srgbClr val="C5D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b="1" dirty="0" err="1">
                <a:solidFill>
                  <a:schemeClr val="lt1"/>
                </a:solidFill>
              </a:rPr>
              <a:t>Pre</a:t>
            </a:r>
            <a:r>
              <a:rPr lang="de-DE" sz="1800" b="1" dirty="0">
                <a:solidFill>
                  <a:schemeClr val="lt1"/>
                </a:solidFill>
              </a:rPr>
              <a:t> </a:t>
            </a:r>
            <a:r>
              <a:rPr lang="de-DE" sz="1800" b="1" dirty="0" err="1">
                <a:solidFill>
                  <a:schemeClr val="lt1"/>
                </a:solidFill>
              </a:rPr>
              <a:t>Processed</a:t>
            </a:r>
            <a:r>
              <a:rPr lang="de-DE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Data </a:t>
            </a:r>
            <a:endParaRPr sz="18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Close </a:t>
            </a:r>
            <a:r>
              <a:rPr lang="de-DE" sz="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price</a:t>
            </a:r>
            <a:r>
              <a:rPr lang="de-DE" sz="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de-DE" sz="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de-DE" sz="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800" b="1" dirty="0">
                <a:solidFill>
                  <a:schemeClr val="lt1"/>
                </a:solidFill>
              </a:rPr>
              <a:t>S&amp;P100 </a:t>
            </a:r>
            <a:r>
              <a:rPr lang="de-DE" sz="800" b="1" dirty="0" err="1">
                <a:solidFill>
                  <a:schemeClr val="lt1"/>
                </a:solidFill>
              </a:rPr>
              <a:t>stocks</a:t>
            </a:r>
            <a:r>
              <a:rPr lang="de-DE" sz="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(2010-04-0</a:t>
            </a:r>
            <a:r>
              <a:rPr lang="de-DE" sz="800" b="1" dirty="0">
                <a:solidFill>
                  <a:schemeClr val="lt1"/>
                </a:solidFill>
              </a:rPr>
              <a:t>1 </a:t>
            </a:r>
            <a:r>
              <a:rPr lang="de-DE" sz="800" b="1" dirty="0" err="1">
                <a:solidFill>
                  <a:schemeClr val="lt1"/>
                </a:solidFill>
              </a:rPr>
              <a:t>to</a:t>
            </a:r>
            <a:r>
              <a:rPr lang="de-DE" sz="800" b="1" dirty="0">
                <a:solidFill>
                  <a:schemeClr val="lt1"/>
                </a:solidFill>
              </a:rPr>
              <a:t> </a:t>
            </a:r>
            <a:r>
              <a:rPr lang="de-DE" sz="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2023-03-09)</a:t>
            </a:r>
            <a:endParaRPr sz="700" dirty="0"/>
          </a:p>
        </p:txBody>
      </p:sp>
      <p:sp>
        <p:nvSpPr>
          <p:cNvPr id="359" name="Google Shape;359;g2d96214bb3e_3_492"/>
          <p:cNvSpPr/>
          <p:nvPr/>
        </p:nvSpPr>
        <p:spPr>
          <a:xfrm>
            <a:off x="423399" y="2853457"/>
            <a:ext cx="2037900" cy="3279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States</a:t>
            </a:r>
            <a:endParaRPr sz="700"/>
          </a:p>
        </p:txBody>
      </p:sp>
      <p:sp>
        <p:nvSpPr>
          <p:cNvPr id="360" name="Google Shape;360;g2d96214bb3e_3_492"/>
          <p:cNvSpPr/>
          <p:nvPr/>
        </p:nvSpPr>
        <p:spPr>
          <a:xfrm>
            <a:off x="423399" y="3294974"/>
            <a:ext cx="2037900" cy="3279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Action (</a:t>
            </a:r>
            <a:r>
              <a:rPr lang="de-DE">
                <a:solidFill>
                  <a:schemeClr val="dk2"/>
                </a:solidFill>
              </a:rPr>
              <a:t>continuous</a:t>
            </a:r>
            <a:r>
              <a:rPr lang="de-DE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700"/>
          </a:p>
        </p:txBody>
      </p:sp>
      <p:sp>
        <p:nvSpPr>
          <p:cNvPr id="361" name="Google Shape;361;g2d96214bb3e_3_492"/>
          <p:cNvSpPr/>
          <p:nvPr/>
        </p:nvSpPr>
        <p:spPr>
          <a:xfrm>
            <a:off x="423402" y="3736246"/>
            <a:ext cx="2037900" cy="12111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1" i="0" u="none" strike="noStrike" cap="none">
                <a:solidFill>
                  <a:schemeClr val="dk2"/>
                </a:solidFill>
              </a:rPr>
              <a:t>Reward Function</a:t>
            </a:r>
            <a:endParaRPr b="1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1. Portfolio return</a:t>
            </a:r>
            <a:endParaRPr sz="100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2. Transaction cost </a:t>
            </a:r>
            <a:endParaRPr sz="100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3. Risk aversion cost</a:t>
            </a:r>
            <a:endParaRPr sz="100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362" name="Google Shape;362;g2d96214bb3e_3_492"/>
          <p:cNvSpPr/>
          <p:nvPr/>
        </p:nvSpPr>
        <p:spPr>
          <a:xfrm>
            <a:off x="2545549" y="1794649"/>
            <a:ext cx="2037600" cy="819000"/>
          </a:xfrm>
          <a:prstGeom prst="roundRect">
            <a:avLst>
              <a:gd name="adj" fmla="val 16667"/>
            </a:avLst>
          </a:prstGeom>
          <a:solidFill>
            <a:srgbClr val="538CD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 </a:t>
            </a:r>
            <a:r>
              <a:rPr lang="de-DE" sz="1600" b="1">
                <a:solidFill>
                  <a:schemeClr val="lt1"/>
                </a:solidFill>
              </a:rPr>
              <a:t>Building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2d96214bb3e_3_492"/>
          <p:cNvSpPr/>
          <p:nvPr/>
        </p:nvSpPr>
        <p:spPr>
          <a:xfrm>
            <a:off x="4667700" y="1794649"/>
            <a:ext cx="2037600" cy="819000"/>
          </a:xfrm>
          <a:prstGeom prst="roundRect">
            <a:avLst>
              <a:gd name="adj" fmla="val 16667"/>
            </a:avLst>
          </a:prstGeom>
          <a:solidFill>
            <a:srgbClr val="538CD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>
                <a:solidFill>
                  <a:schemeClr val="lt1"/>
                </a:solidFill>
              </a:rPr>
              <a:t>Best Model Picking </a:t>
            </a:r>
            <a:endParaRPr sz="1600" b="1">
              <a:solidFill>
                <a:schemeClr val="lt1"/>
              </a:solidFill>
            </a:endParaRPr>
          </a:p>
        </p:txBody>
      </p:sp>
      <p:sp>
        <p:nvSpPr>
          <p:cNvPr id="364" name="Google Shape;364;g2d96214bb3e_3_492"/>
          <p:cNvSpPr/>
          <p:nvPr/>
        </p:nvSpPr>
        <p:spPr>
          <a:xfrm>
            <a:off x="423399" y="1794649"/>
            <a:ext cx="2037600" cy="819000"/>
          </a:xfrm>
          <a:prstGeom prst="roundRect">
            <a:avLst>
              <a:gd name="adj" fmla="val 16667"/>
            </a:avLst>
          </a:prstGeom>
          <a:solidFill>
            <a:srgbClr val="538CD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Definition</a:t>
            </a:r>
            <a:endParaRPr sz="700"/>
          </a:p>
        </p:txBody>
      </p:sp>
      <p:sp>
        <p:nvSpPr>
          <p:cNvPr id="365" name="Google Shape;365;g2d96214bb3e_3_492"/>
          <p:cNvSpPr/>
          <p:nvPr/>
        </p:nvSpPr>
        <p:spPr>
          <a:xfrm>
            <a:off x="6794769" y="1794654"/>
            <a:ext cx="2037600" cy="839700"/>
          </a:xfrm>
          <a:prstGeom prst="roundRect">
            <a:avLst>
              <a:gd name="adj" fmla="val 16667"/>
            </a:avLst>
          </a:prstGeom>
          <a:solidFill>
            <a:srgbClr val="538CD5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>
                <a:solidFill>
                  <a:schemeClr val="lt1"/>
                </a:solidFill>
              </a:rPr>
              <a:t>Conclusion</a:t>
            </a:r>
            <a:endParaRPr sz="700"/>
          </a:p>
        </p:txBody>
      </p:sp>
      <p:sp>
        <p:nvSpPr>
          <p:cNvPr id="366" name="Google Shape;366;g2d96214bb3e_3_492"/>
          <p:cNvSpPr/>
          <p:nvPr/>
        </p:nvSpPr>
        <p:spPr>
          <a:xfrm>
            <a:off x="2545576" y="3904338"/>
            <a:ext cx="2037900" cy="3993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2"/>
                </a:solidFill>
              </a:rPr>
              <a:t>TD3-MLP</a:t>
            </a:r>
            <a:endParaRPr sz="700"/>
          </a:p>
        </p:txBody>
      </p:sp>
      <p:sp>
        <p:nvSpPr>
          <p:cNvPr id="367" name="Google Shape;367;g2d96214bb3e_3_492"/>
          <p:cNvSpPr/>
          <p:nvPr/>
        </p:nvSpPr>
        <p:spPr>
          <a:xfrm>
            <a:off x="2545576" y="4469394"/>
            <a:ext cx="2037900" cy="3990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2"/>
                </a:solidFill>
              </a:rPr>
              <a:t>TD3-LSTM</a:t>
            </a:r>
            <a:endParaRPr sz="700"/>
          </a:p>
        </p:txBody>
      </p:sp>
      <p:sp>
        <p:nvSpPr>
          <p:cNvPr id="368" name="Google Shape;368;g2d96214bb3e_3_492"/>
          <p:cNvSpPr/>
          <p:nvPr/>
        </p:nvSpPr>
        <p:spPr>
          <a:xfrm>
            <a:off x="2545569" y="2859436"/>
            <a:ext cx="2037900" cy="9630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2"/>
                </a:solidFill>
              </a:rPr>
              <a:t>Baseline Methods</a:t>
            </a:r>
            <a:endParaRPr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2"/>
                </a:solidFill>
              </a:rPr>
              <a:t>1. Minimum Variance</a:t>
            </a:r>
            <a:endParaRPr sz="120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2"/>
                </a:solidFill>
              </a:rPr>
              <a:t>2. Max Sharpe Ratio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69" name="Google Shape;369;g2d96214bb3e_3_492"/>
          <p:cNvSpPr/>
          <p:nvPr/>
        </p:nvSpPr>
        <p:spPr>
          <a:xfrm>
            <a:off x="4667726" y="2853469"/>
            <a:ext cx="2037900" cy="441600"/>
          </a:xfrm>
          <a:prstGeom prst="roundRect">
            <a:avLst>
              <a:gd name="adj" fmla="val 8828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>
                <a:solidFill>
                  <a:schemeClr val="dk2"/>
                </a:solidFill>
              </a:rPr>
              <a:t>TD3-MLP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70" name="Google Shape;370;g2d96214bb3e_3_492"/>
          <p:cNvSpPr/>
          <p:nvPr/>
        </p:nvSpPr>
        <p:spPr>
          <a:xfrm>
            <a:off x="4667726" y="3370912"/>
            <a:ext cx="2037900" cy="15753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 b="1">
                <a:solidFill>
                  <a:schemeClr val="dk2"/>
                </a:solidFill>
              </a:rPr>
              <a:t>Performance metrics：</a:t>
            </a:r>
            <a:endParaRPr sz="12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Cumulative Return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Annualized Return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Annual Volatility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Sharpe Ratio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Maximum Drawdown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Calmar Ratio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371" name="Google Shape;371;g2d96214bb3e_3_492"/>
          <p:cNvSpPr/>
          <p:nvPr/>
        </p:nvSpPr>
        <p:spPr>
          <a:xfrm rot="5400000">
            <a:off x="4720742" y="-2316539"/>
            <a:ext cx="43500" cy="7972500"/>
          </a:xfrm>
          <a:prstGeom prst="leftBracket">
            <a:avLst>
              <a:gd name="adj" fmla="val 8333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g2d96214bb3e_3_492"/>
          <p:cNvCxnSpPr>
            <a:stCxn id="371" idx="1"/>
            <a:endCxn id="358" idx="2"/>
          </p:cNvCxnSpPr>
          <p:nvPr/>
        </p:nvCxnSpPr>
        <p:spPr>
          <a:xfrm rot="10800000">
            <a:off x="4571192" y="1549261"/>
            <a:ext cx="171300" cy="98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3" name="Google Shape;373;g2d96214bb3e_3_492"/>
          <p:cNvSpPr/>
          <p:nvPr/>
        </p:nvSpPr>
        <p:spPr>
          <a:xfrm>
            <a:off x="1060550" y="2652387"/>
            <a:ext cx="794700" cy="125100"/>
          </a:xfrm>
          <a:prstGeom prst="downArrow">
            <a:avLst>
              <a:gd name="adj1" fmla="val 29901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2d96214bb3e_3_492"/>
          <p:cNvSpPr/>
          <p:nvPr/>
        </p:nvSpPr>
        <p:spPr>
          <a:xfrm>
            <a:off x="3209184" y="2652387"/>
            <a:ext cx="794700" cy="125100"/>
          </a:xfrm>
          <a:prstGeom prst="downArrow">
            <a:avLst>
              <a:gd name="adj1" fmla="val 29901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2d96214bb3e_3_492"/>
          <p:cNvSpPr/>
          <p:nvPr/>
        </p:nvSpPr>
        <p:spPr>
          <a:xfrm>
            <a:off x="5297842" y="2652387"/>
            <a:ext cx="794700" cy="125100"/>
          </a:xfrm>
          <a:prstGeom prst="downArrow">
            <a:avLst>
              <a:gd name="adj1" fmla="val 29901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2d96214bb3e_3_492"/>
          <p:cNvSpPr/>
          <p:nvPr/>
        </p:nvSpPr>
        <p:spPr>
          <a:xfrm>
            <a:off x="7411667" y="2672758"/>
            <a:ext cx="794700" cy="125100"/>
          </a:xfrm>
          <a:prstGeom prst="downArrow">
            <a:avLst>
              <a:gd name="adj1" fmla="val 29901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2d96214bb3e_3_492"/>
          <p:cNvSpPr/>
          <p:nvPr/>
        </p:nvSpPr>
        <p:spPr>
          <a:xfrm>
            <a:off x="6792817" y="2872515"/>
            <a:ext cx="2037900" cy="6075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>
                <a:solidFill>
                  <a:schemeClr val="dk2"/>
                </a:solidFill>
              </a:rPr>
              <a:t>Model Result Analysis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2d96214bb3e_3_492"/>
          <p:cNvSpPr/>
          <p:nvPr/>
        </p:nvSpPr>
        <p:spPr>
          <a:xfrm>
            <a:off x="6813335" y="3631826"/>
            <a:ext cx="2000700" cy="1323600"/>
          </a:xfrm>
          <a:prstGeom prst="roundRect">
            <a:avLst>
              <a:gd name="adj" fmla="val 16667"/>
            </a:avLst>
          </a:prstGeom>
          <a:solidFill>
            <a:schemeClr val="accent1">
              <a:alpha val="498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>
                <a:solidFill>
                  <a:schemeClr val="dk2"/>
                </a:solidFill>
              </a:rPr>
              <a:t>Further Evaluation: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Change Market Condition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Transaction Cost</a:t>
            </a:r>
            <a:endParaRPr sz="10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2"/>
                </a:solidFill>
              </a:rPr>
              <a:t>Risk Aversion Cost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79" name="Google Shape;379;g2d96214bb3e_3_492"/>
          <p:cNvSpPr txBox="1"/>
          <p:nvPr/>
        </p:nvSpPr>
        <p:spPr>
          <a:xfrm>
            <a:off x="311700" y="363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800" dirty="0" err="1">
                <a:solidFill>
                  <a:schemeClr val="dk1"/>
                </a:solidFill>
              </a:rPr>
              <a:t>Methodology</a:t>
            </a:r>
            <a:endParaRPr sz="3000" dirty="0"/>
          </a:p>
        </p:txBody>
      </p:sp>
      <p:pic>
        <p:nvPicPr>
          <p:cNvPr id="380" name="Google Shape;380;g2d96214bb3e_3_492"/>
          <p:cNvPicPr preferRelativeResize="0"/>
          <p:nvPr/>
        </p:nvPicPr>
        <p:blipFill rotWithShape="1">
          <a:blip r:embed="rId3">
            <a:alphaModFix/>
          </a:blip>
          <a:srcRect r="7390" b="21259"/>
          <a:stretch/>
        </p:blipFill>
        <p:spPr>
          <a:xfrm>
            <a:off x="7796525" y="189672"/>
            <a:ext cx="1164350" cy="6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g2d96214bb3e_3_492"/>
          <p:cNvSpPr txBox="1"/>
          <p:nvPr/>
        </p:nvSpPr>
        <p:spPr>
          <a:xfrm>
            <a:off x="6826234" y="4996269"/>
            <a:ext cx="2052000" cy="880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>
                <a:solidFill>
                  <a:srgbClr val="000000"/>
                </a:solidFill>
              </a:rPr>
              <a:t>6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CB7FDF7F-55D7-AE15-9051-004A8D2B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">
            <a:extLst>
              <a:ext uri="{FF2B5EF4-FFF2-40B4-BE49-F238E27FC236}">
                <a16:creationId xmlns:a16="http://schemas.microsoft.com/office/drawing/2014/main" id="{B1E49C44-F4E3-B082-BE3B-3896970F3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80" y="1860270"/>
            <a:ext cx="406142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b="1" dirty="0"/>
              <a:t>Problem Definition</a:t>
            </a:r>
          </a:p>
        </p:txBody>
      </p:sp>
      <p:sp>
        <p:nvSpPr>
          <p:cNvPr id="345" name="Google Shape;345;p4">
            <a:extLst>
              <a:ext uri="{FF2B5EF4-FFF2-40B4-BE49-F238E27FC236}">
                <a16:creationId xmlns:a16="http://schemas.microsoft.com/office/drawing/2014/main" id="{6F5A90AB-6227-296F-DF3B-7588ABE733DD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Deep Reinforcement Learning | Tutor: </a:t>
            </a:r>
            <a:r>
              <a:rPr lang="de-DE" dirty="0" err="1"/>
              <a:t>Maotong</a:t>
            </a:r>
            <a:r>
              <a:rPr lang="de-DE" dirty="0"/>
              <a:t> Sun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150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id="{13FDEDE0-4EB5-65F3-B622-04C25897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37e78d7b63_6_75">
            <a:extLst>
              <a:ext uri="{FF2B5EF4-FFF2-40B4-BE49-F238E27FC236}">
                <a16:creationId xmlns:a16="http://schemas.microsoft.com/office/drawing/2014/main" id="{2F69B0D7-302D-6037-D428-48C5D2F52AC5}"/>
              </a:ext>
            </a:extLst>
          </p:cNvPr>
          <p:cNvSpPr txBox="1"/>
          <p:nvPr/>
        </p:nvSpPr>
        <p:spPr>
          <a:xfrm>
            <a:off x="378147" y="2482068"/>
            <a:ext cx="4572000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Mathematical</a:t>
            </a:r>
            <a:r>
              <a:rPr lang="de-DE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r>
              <a:rPr lang="de-DE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time </a:t>
            </a:r>
            <a:r>
              <a:rPr lang="de-DE" sz="14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t:</a:t>
            </a:r>
            <a:endParaRPr sz="1100" dirty="0"/>
          </a:p>
        </p:txBody>
      </p:sp>
      <p:sp>
        <p:nvSpPr>
          <p:cNvPr id="387" name="Google Shape;387;g337e78d7b63_6_75">
            <a:extLst>
              <a:ext uri="{FF2B5EF4-FFF2-40B4-BE49-F238E27FC236}">
                <a16:creationId xmlns:a16="http://schemas.microsoft.com/office/drawing/2014/main" id="{BD6D81AB-8F05-12F6-4601-CED49D6C3241}"/>
              </a:ext>
            </a:extLst>
          </p:cNvPr>
          <p:cNvSpPr txBox="1"/>
          <p:nvPr/>
        </p:nvSpPr>
        <p:spPr>
          <a:xfrm>
            <a:off x="311147" y="1187248"/>
            <a:ext cx="8002800" cy="1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635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State (</a:t>
            </a:r>
            <a:r>
              <a:rPr lang="de-DE" sz="16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6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de-DE" sz="12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represents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time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200" dirty="0"/>
          </a:p>
          <a:p>
            <a:pPr marL="215900" marR="0" lvl="0" indent="-1905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prices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 dirty="0"/>
          </a:p>
          <a:p>
            <a:pPr marL="215900" marR="0" lvl="0" indent="-1905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weights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distribution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capital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across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assets</a:t>
            </a:r>
            <a:r>
              <a:rPr lang="de-DE" sz="12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 dirty="0"/>
          </a:p>
        </p:txBody>
      </p:sp>
      <p:sp>
        <p:nvSpPr>
          <p:cNvPr id="389" name="Google Shape;389;g337e78d7b63_6_75">
            <a:extLst>
              <a:ext uri="{FF2B5EF4-FFF2-40B4-BE49-F238E27FC236}">
                <a16:creationId xmlns:a16="http://schemas.microsoft.com/office/drawing/2014/main" id="{A7CB4884-36AB-FF8B-57CF-58244288D24D}"/>
              </a:ext>
            </a:extLst>
          </p:cNvPr>
          <p:cNvSpPr txBox="1"/>
          <p:nvPr/>
        </p:nvSpPr>
        <p:spPr>
          <a:xfrm>
            <a:off x="4940950" y="2522300"/>
            <a:ext cx="3805200" cy="1044900"/>
          </a:xfrm>
          <a:prstGeom prst="rect">
            <a:avLst/>
          </a:prstGeom>
          <a:noFill/>
          <a:ln w="38100" cap="flat" cmpd="sng">
            <a:solidFill>
              <a:srgbClr val="FFE05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50" b="1" dirty="0">
                <a:solidFill>
                  <a:schemeClr val="dk1"/>
                </a:solidFill>
                <a:highlight>
                  <a:srgbClr val="FFFFFF"/>
                </a:highlight>
              </a:rPr>
              <a:t>State </a:t>
            </a:r>
            <a:r>
              <a:rPr lang="de-DE" sz="1050" b="1" dirty="0" err="1">
                <a:solidFill>
                  <a:schemeClr val="dk1"/>
                </a:solidFill>
                <a:highlight>
                  <a:srgbClr val="FFFFFF"/>
                </a:highlight>
              </a:rPr>
              <a:t>evolution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: As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agent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interacts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with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market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new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states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are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generated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 err="1">
                <a:solidFill>
                  <a:schemeClr val="dk1"/>
                </a:solidFill>
                <a:highlight>
                  <a:srgbClr val="FFFFFF"/>
                </a:highlight>
              </a:rPr>
              <a:t>based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 on: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de-DE" sz="1050" b="1" dirty="0" err="1">
                <a:solidFill>
                  <a:schemeClr val="dk1"/>
                </a:solidFill>
                <a:highlight>
                  <a:srgbClr val="FFFFFF"/>
                </a:highlight>
              </a:rPr>
              <a:t>Current</a:t>
            </a:r>
            <a:r>
              <a:rPr lang="de-DE" sz="105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b="1" dirty="0" err="1">
                <a:solidFill>
                  <a:schemeClr val="dk1"/>
                </a:solidFill>
                <a:highlight>
                  <a:srgbClr val="FFFFFF"/>
                </a:highlight>
              </a:rPr>
              <a:t>window</a:t>
            </a:r>
            <a:r>
              <a:rPr lang="de-DE" sz="105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b="1" dirty="0" err="1">
                <a:solidFill>
                  <a:schemeClr val="dk1"/>
                </a:solidFill>
                <a:highlight>
                  <a:srgbClr val="FFFFFF"/>
                </a:highlight>
              </a:rPr>
              <a:t>prices</a:t>
            </a:r>
            <a:r>
              <a:rPr lang="de-DE" sz="105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dirty="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de-DE" sz="1050" dirty="0" err="1">
                <a:solidFill>
                  <a:schemeClr val="dk1"/>
                </a:solidFill>
                <a:highlight>
                  <a:schemeClr val="lt1"/>
                </a:highlight>
              </a:rPr>
              <a:t>normalized</a:t>
            </a:r>
            <a:r>
              <a:rPr lang="de-DE" sz="1050" dirty="0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r>
              <a:rPr lang="de-DE" sz="1050" dirty="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Char char="●"/>
            </a:pPr>
            <a:r>
              <a:rPr lang="de-DE" sz="1050" b="1" dirty="0">
                <a:solidFill>
                  <a:schemeClr val="dk1"/>
                </a:solidFill>
                <a:highlight>
                  <a:srgbClr val="FFFFFF"/>
                </a:highlight>
              </a:rPr>
              <a:t>Portfolio </a:t>
            </a:r>
            <a:r>
              <a:rPr lang="de-DE" sz="1050" b="1" dirty="0" err="1">
                <a:solidFill>
                  <a:schemeClr val="dk1"/>
                </a:solidFill>
                <a:highlight>
                  <a:srgbClr val="FFFFFF"/>
                </a:highlight>
              </a:rPr>
              <a:t>rebalancing</a:t>
            </a:r>
            <a:r>
              <a:rPr lang="de-DE" sz="105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050" b="1" dirty="0" err="1">
                <a:solidFill>
                  <a:schemeClr val="dk1"/>
                </a:solidFill>
                <a:highlight>
                  <a:srgbClr val="FFFFFF"/>
                </a:highlight>
              </a:rPr>
              <a:t>results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90" name="Google Shape;390;g337e78d7b63_6_75">
            <a:extLst>
              <a:ext uri="{FF2B5EF4-FFF2-40B4-BE49-F238E27FC236}">
                <a16:creationId xmlns:a16="http://schemas.microsoft.com/office/drawing/2014/main" id="{F24C532B-8077-E940-ED4B-8BE9A51F52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913" y="2540587"/>
            <a:ext cx="900387" cy="100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37e78d7b63_6_75">
            <a:extLst>
              <a:ext uri="{FF2B5EF4-FFF2-40B4-BE49-F238E27FC236}">
                <a16:creationId xmlns:a16="http://schemas.microsoft.com/office/drawing/2014/main" id="{AE4B1E3D-DFAE-6189-CC03-384023EDB10E}"/>
              </a:ext>
            </a:extLst>
          </p:cNvPr>
          <p:cNvSpPr txBox="1"/>
          <p:nvPr/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500">
                <a:solidFill>
                  <a:srgbClr val="000000"/>
                </a:solidFill>
              </a:rPr>
              <a:t>Deep Reinforcement Learning Problem Definition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392" name="Google Shape;392;g337e78d7b63_6_75">
            <a:extLst>
              <a:ext uri="{FF2B5EF4-FFF2-40B4-BE49-F238E27FC236}">
                <a16:creationId xmlns:a16="http://schemas.microsoft.com/office/drawing/2014/main" id="{A0ECCEA6-832F-28D2-E4B1-5A3D1B954E08}"/>
              </a:ext>
            </a:extLst>
          </p:cNvPr>
          <p:cNvSpPr txBox="1"/>
          <p:nvPr/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065BD"/>
                </a:solidFill>
              </a:rPr>
              <a:t>State, Action and Reward</a:t>
            </a:r>
            <a:endParaRPr sz="1800">
              <a:solidFill>
                <a:srgbClr val="0065BD"/>
              </a:solidFill>
            </a:endParaRPr>
          </a:p>
        </p:txBody>
      </p:sp>
      <p:pic>
        <p:nvPicPr>
          <p:cNvPr id="394" name="Google Shape;394;g337e78d7b63_6_75">
            <a:extLst>
              <a:ext uri="{FF2B5EF4-FFF2-40B4-BE49-F238E27FC236}">
                <a16:creationId xmlns:a16="http://schemas.microsoft.com/office/drawing/2014/main" id="{5DA116E4-5A79-834C-8550-CE318FE8E2B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400" y="252513"/>
            <a:ext cx="12573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37e78d7b63_6_75">
            <a:extLst>
              <a:ext uri="{FF2B5EF4-FFF2-40B4-BE49-F238E27FC236}">
                <a16:creationId xmlns:a16="http://schemas.microsoft.com/office/drawing/2014/main" id="{B0056AE0-6D57-4AC5-97DA-1C0B325B3D8F}"/>
              </a:ext>
            </a:extLst>
          </p:cNvPr>
          <p:cNvSpPr txBox="1"/>
          <p:nvPr/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>
                <a:solidFill>
                  <a:srgbClr val="000000"/>
                </a:solidFill>
              </a:rPr>
              <a:t>8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3" name="Google Shape;434;g2d96214bb3e_2_322">
            <a:extLst>
              <a:ext uri="{FF2B5EF4-FFF2-40B4-BE49-F238E27FC236}">
                <a16:creationId xmlns:a16="http://schemas.microsoft.com/office/drawing/2014/main" id="{08752A81-34A4-8BD3-6547-E33B475B1B66}"/>
              </a:ext>
            </a:extLst>
          </p:cNvPr>
          <p:cNvSpPr txBox="1">
            <a:spLocks/>
          </p:cNvSpPr>
          <p:nvPr/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Presentation for Deep Reinforcement Learning | Tutor: Maotong Sun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EE2A5A-7179-DF93-57E8-9430A3183C83}"/>
                  </a:ext>
                </a:extLst>
              </p:cNvPr>
              <p:cNvSpPr txBox="1"/>
              <p:nvPr/>
            </p:nvSpPr>
            <p:spPr>
              <a:xfrm>
                <a:off x="378147" y="3912008"/>
                <a:ext cx="10114711" cy="9788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pt-BR" dirty="0">
                    <a:latin typeface="+mj-lt"/>
                  </a:rPr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>
                    <a:latin typeface="+mj-lt"/>
                  </a:rPr>
                  <a:t> represents the normalized price, indicating the relative price change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is the vector of portfolio weights from the previous step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EE2A5A-7179-DF93-57E8-9430A3183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47" y="3912008"/>
                <a:ext cx="10114711" cy="978858"/>
              </a:xfrm>
              <a:prstGeom prst="rect">
                <a:avLst/>
              </a:prstGeom>
              <a:blipFill>
                <a:blip r:embed="rId5"/>
                <a:stretch>
                  <a:fillRect l="-1085" t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03B38FF-C4A6-09A5-E963-7449026CBDC5}"/>
                  </a:ext>
                </a:extLst>
              </p:cNvPr>
              <p:cNvSpPr txBox="1"/>
              <p:nvPr/>
            </p:nvSpPr>
            <p:spPr>
              <a:xfrm>
                <a:off x="1926738" y="3337232"/>
                <a:ext cx="1338635" cy="2526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=[</m:t>
                      </m:r>
                      <m:acc>
                        <m:accPr>
                          <m:chr m:val="̃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03B38FF-C4A6-09A5-E963-7449026CB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738" y="3337232"/>
                <a:ext cx="1338635" cy="252698"/>
              </a:xfrm>
              <a:prstGeom prst="rect">
                <a:avLst/>
              </a:prstGeom>
              <a:blipFill>
                <a:blip r:embed="rId6"/>
                <a:stretch>
                  <a:fillRect l="-909" t="-11905" r="-454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37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C7E391CC-79E1-178B-9510-8D1C9BCD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d96214bb3e_2_268">
            <a:extLst>
              <a:ext uri="{FF2B5EF4-FFF2-40B4-BE49-F238E27FC236}">
                <a16:creationId xmlns:a16="http://schemas.microsoft.com/office/drawing/2014/main" id="{5822F53D-0A42-BECD-CA9A-5128F00F47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9</a:t>
            </a:fld>
            <a:endParaRPr/>
          </a:p>
        </p:txBody>
      </p:sp>
      <p:sp>
        <p:nvSpPr>
          <p:cNvPr id="403" name="Google Shape;403;g2d96214bb3e_2_268">
            <a:extLst>
              <a:ext uri="{FF2B5EF4-FFF2-40B4-BE49-F238E27FC236}">
                <a16:creationId xmlns:a16="http://schemas.microsoft.com/office/drawing/2014/main" id="{F58E36FF-7AAD-42DD-DCDE-3E2F82D22D68}"/>
              </a:ext>
            </a:extLst>
          </p:cNvPr>
          <p:cNvSpPr txBox="1"/>
          <p:nvPr/>
        </p:nvSpPr>
        <p:spPr>
          <a:xfrm>
            <a:off x="323939" y="985700"/>
            <a:ext cx="5823900" cy="222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6200" lvl="0" indent="0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600" b="1" dirty="0">
                <a:solidFill>
                  <a:schemeClr val="dk1"/>
                </a:solidFill>
                <a:highlight>
                  <a:srgbClr val="FFFFFF"/>
                </a:highlight>
              </a:rPr>
              <a:t>2. Action (</a:t>
            </a:r>
            <a:r>
              <a:rPr lang="de-DE" sz="1600" b="1" dirty="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de-DE" sz="1600" b="1" dirty="0">
                <a:solidFill>
                  <a:schemeClr val="dk1"/>
                </a:solidFill>
                <a:highlight>
                  <a:srgbClr val="FFFFFF"/>
                </a:highlight>
              </a:rPr>
              <a:t>)</a:t>
            </a:r>
            <a:endParaRPr sz="1600" b="1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The </a:t>
            </a:r>
            <a:r>
              <a:rPr lang="de-DE" sz="12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action</a:t>
            </a:r>
            <a:r>
              <a:rPr lang="de-DE" sz="12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determines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how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agent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rebalances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portfolio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. The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agent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decides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: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How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much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capital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allocate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each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asset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527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Adjustments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to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previous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weights</a:t>
            </a:r>
            <a:r>
              <a:rPr lang="de-DE" sz="1200" dirty="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20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b="1" dirty="0" err="1">
                <a:solidFill>
                  <a:schemeClr val="dk1"/>
                </a:solidFill>
                <a:highlight>
                  <a:srgbClr val="FFFFFF"/>
                </a:highlight>
              </a:rPr>
              <a:t>Mathematical</a:t>
            </a:r>
            <a:r>
              <a:rPr lang="de-DE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b="1" dirty="0" err="1">
                <a:solidFill>
                  <a:schemeClr val="dk1"/>
                </a:solidFill>
                <a:highlight>
                  <a:srgbClr val="FFFFFF"/>
                </a:highlight>
              </a:rPr>
              <a:t>Representation</a:t>
            </a:r>
            <a:endParaRPr b="1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04" name="Google Shape;404;g2d96214bb3e_2_268">
            <a:extLst>
              <a:ext uri="{FF2B5EF4-FFF2-40B4-BE49-F238E27FC236}">
                <a16:creationId xmlns:a16="http://schemas.microsoft.com/office/drawing/2014/main" id="{1CBAB94A-6D8B-BC20-73B3-5BF2EFC5BB93}"/>
              </a:ext>
            </a:extLst>
          </p:cNvPr>
          <p:cNvCxnSpPr/>
          <p:nvPr/>
        </p:nvCxnSpPr>
        <p:spPr>
          <a:xfrm rot="10800000" flipH="1">
            <a:off x="4369755" y="2304837"/>
            <a:ext cx="1102800" cy="484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05" name="Google Shape;405;g2d96214bb3e_2_268">
            <a:extLst>
              <a:ext uri="{FF2B5EF4-FFF2-40B4-BE49-F238E27FC236}">
                <a16:creationId xmlns:a16="http://schemas.microsoft.com/office/drawing/2014/main" id="{E868EE3A-9BDC-5EB1-0A24-4CBDCC9F9576}"/>
              </a:ext>
            </a:extLst>
          </p:cNvPr>
          <p:cNvSpPr txBox="1"/>
          <p:nvPr/>
        </p:nvSpPr>
        <p:spPr>
          <a:xfrm>
            <a:off x="5547080" y="201643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>
                <a:solidFill>
                  <a:schemeClr val="lt2"/>
                </a:solidFill>
              </a:rPr>
              <a:t>continuous</a:t>
            </a:r>
            <a:r>
              <a:rPr lang="de-DE" dirty="0">
                <a:solidFill>
                  <a:schemeClr val="lt2"/>
                </a:solidFill>
              </a:rPr>
              <a:t> </a:t>
            </a:r>
            <a:r>
              <a:rPr lang="de-DE" dirty="0" err="1">
                <a:solidFill>
                  <a:schemeClr val="lt2"/>
                </a:solidFill>
              </a:rPr>
              <a:t>action</a:t>
            </a:r>
            <a:r>
              <a:rPr lang="de-DE" dirty="0">
                <a:solidFill>
                  <a:schemeClr val="lt2"/>
                </a:solidFill>
              </a:rPr>
              <a:t> </a:t>
            </a:r>
            <a:r>
              <a:rPr lang="de-DE" dirty="0" err="1">
                <a:solidFill>
                  <a:schemeClr val="lt2"/>
                </a:solidFill>
              </a:rPr>
              <a:t>space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407" name="Google Shape;407;g2d96214bb3e_2_268">
            <a:extLst>
              <a:ext uri="{FF2B5EF4-FFF2-40B4-BE49-F238E27FC236}">
                <a16:creationId xmlns:a16="http://schemas.microsoft.com/office/drawing/2014/main" id="{1E5283D9-9126-FB0F-9845-5B485379BA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Deep Reinforcement Learning Problem Definition</a:t>
            </a:r>
            <a:endParaRPr/>
          </a:p>
        </p:txBody>
      </p:sp>
      <p:sp>
        <p:nvSpPr>
          <p:cNvPr id="408" name="Google Shape;408;g2d96214bb3e_2_268">
            <a:extLst>
              <a:ext uri="{FF2B5EF4-FFF2-40B4-BE49-F238E27FC236}">
                <a16:creationId xmlns:a16="http://schemas.microsoft.com/office/drawing/2014/main" id="{C2C47101-A5C5-18E4-FD31-D4EE5A5CC8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State, Action and Reward</a:t>
            </a:r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D4C9BDA-8670-E19B-02B2-D799ABE7E0A6}"/>
                  </a:ext>
                </a:extLst>
              </p:cNvPr>
              <p:cNvSpPr txBox="1"/>
              <p:nvPr/>
            </p:nvSpPr>
            <p:spPr>
              <a:xfrm>
                <a:off x="3661313" y="2815871"/>
                <a:ext cx="13131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[−1,1]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2D4C9BDA-8670-E19B-02B2-D799ABE7E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1313" y="2815871"/>
                <a:ext cx="1313115" cy="276999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870FC6-202D-FB5A-D5BD-5D3074EBDDD5}"/>
                  </a:ext>
                </a:extLst>
              </p:cNvPr>
              <p:cNvSpPr txBox="1"/>
              <p:nvPr/>
            </p:nvSpPr>
            <p:spPr>
              <a:xfrm>
                <a:off x="465613" y="2996815"/>
                <a:ext cx="7704511" cy="2145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900" dirty="0">
                    <a:latin typeface="+mn-lt"/>
                  </a:rPr>
                  <a:t>Where: 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900" b="1" dirty="0">
                    <a:latin typeface="+mn-lt"/>
                  </a:rPr>
                  <a:t> </a:t>
                </a:r>
                <a:r>
                  <a:rPr lang="en-US" sz="900" dirty="0">
                    <a:latin typeface="+mn-lt"/>
                  </a:rPr>
                  <a:t>is a vector with </a:t>
                </a:r>
                <a14:m>
                  <m:oMath xmlns:m="http://schemas.openxmlformats.org/officeDocument/2006/math">
                    <m:r>
                      <a:rPr lang="en-US" sz="900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900" dirty="0">
                    <a:latin typeface="+mn-lt"/>
                  </a:rPr>
                  <a:t> elements, where </a:t>
                </a:r>
                <a14:m>
                  <m:oMath xmlns:m="http://schemas.openxmlformats.org/officeDocument/2006/math">
                    <m:r>
                      <a:rPr lang="en-US" sz="900" b="1" i="1" smtClean="0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sz="900" dirty="0">
                    <a:latin typeface="+mn-lt"/>
                  </a:rPr>
                  <a:t> is the number of assets.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900" b="1" dirty="0">
                    <a:latin typeface="+mn-lt"/>
                  </a:rPr>
                  <a:t> </a:t>
                </a:r>
                <a:r>
                  <a:rPr lang="en-US" sz="900" dirty="0">
                    <a:latin typeface="+mn-lt"/>
                  </a:rPr>
                  <a:t>represents an </a:t>
                </a:r>
                <a:r>
                  <a:rPr lang="en-US" sz="900" b="1" dirty="0">
                    <a:latin typeface="+mn-lt"/>
                  </a:rPr>
                  <a:t>adjustment</a:t>
                </a:r>
                <a:r>
                  <a:rPr lang="en-US" sz="900" dirty="0">
                    <a:latin typeface="+mn-lt"/>
                  </a:rPr>
                  <a:t> to the previous weight allocation suggested by the agent (The agent does </a:t>
                </a:r>
                <a:r>
                  <a:rPr lang="en-US" sz="900" b="1" dirty="0">
                    <a:latin typeface="+mn-lt"/>
                  </a:rPr>
                  <a:t>not directly </a:t>
                </a:r>
                <a:r>
                  <a:rPr lang="en-US" sz="900" dirty="0">
                    <a:latin typeface="+mn-lt"/>
                  </a:rPr>
                  <a:t>choose portfolio weights but </a:t>
                </a:r>
                <a:r>
                  <a:rPr lang="en-US" sz="900" b="1" dirty="0">
                    <a:latin typeface="+mn-lt"/>
                  </a:rPr>
                  <a:t>adjusts</a:t>
                </a:r>
                <a:r>
                  <a:rPr lang="en-US" sz="900" dirty="0">
                    <a:latin typeface="+mn-lt"/>
                  </a:rPr>
                  <a:t> them incrementally).</a:t>
                </a:r>
              </a:p>
              <a:p>
                <a:pPr>
                  <a:lnSpc>
                    <a:spcPct val="120000"/>
                  </a:lnSpc>
                </a:pPr>
                <a:endParaRPr lang="en-US" sz="900" dirty="0"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900" dirty="0">
                    <a:latin typeface="+mn-lt"/>
                  </a:rPr>
                  <a:t>Each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</m:oMath>
                </a14:m>
                <a:r>
                  <a:rPr lang="en-US" sz="900" b="1" dirty="0">
                    <a:latin typeface="+mn-lt"/>
                  </a:rPr>
                  <a:t> </a:t>
                </a:r>
                <a:r>
                  <a:rPr lang="en-US" sz="900" dirty="0">
                    <a:latin typeface="+mn-lt"/>
                  </a:rPr>
                  <a:t>follows: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900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900" b="0" dirty="0">
                    <a:latin typeface="+mn-lt"/>
                  </a:rPr>
                  <a:t> -&gt; no change in allocation for asset </a:t>
                </a:r>
                <a14:m>
                  <m:oMath xmlns:m="http://schemas.openxmlformats.org/officeDocument/2006/math">
                    <m:r>
                      <a:rPr lang="en-US" sz="9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900" b="0" dirty="0">
                    <a:latin typeface="+mn-lt"/>
                  </a:rPr>
                  <a:t>.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9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900" b="0" dirty="0">
                    <a:latin typeface="+mn-lt"/>
                  </a:rPr>
                  <a:t> -&gt; Increase investment in asset </a:t>
                </a:r>
                <a14:m>
                  <m:oMath xmlns:m="http://schemas.openxmlformats.org/officeDocument/2006/math">
                    <m:r>
                      <a:rPr lang="en-US" sz="9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900" b="0" dirty="0">
                    <a:latin typeface="+mn-lt"/>
                  </a:rPr>
                  <a:t>.</a:t>
                </a:r>
              </a:p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r>
                      <a:rPr lang="en-US" sz="900" b="0" i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900" b="0" dirty="0">
                    <a:latin typeface="+mn-lt"/>
                  </a:rPr>
                  <a:t> -&gt; Decrease investment in asset </a:t>
                </a:r>
                <a14:m>
                  <m:oMath xmlns:m="http://schemas.openxmlformats.org/officeDocument/2006/math">
                    <m:r>
                      <a:rPr lang="en-US" sz="900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900" b="0" dirty="0">
                    <a:latin typeface="+mn-lt"/>
                  </a:rPr>
                  <a:t>.</a:t>
                </a:r>
                <a:endParaRPr lang="en-US" sz="900" dirty="0"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900" b="0" dirty="0"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sz="900" dirty="0">
                    <a:latin typeface="+mn-lt"/>
                  </a:rPr>
                  <a:t>After this action is taken: </a:t>
                </a:r>
              </a:p>
              <a:p>
                <a:pPr>
                  <a:lnSpc>
                    <a:spcPct val="120000"/>
                  </a:lnSpc>
                </a:pPr>
                <a:endParaRPr lang="en-US" sz="900" dirty="0">
                  <a:latin typeface="+mn-lt"/>
                </a:endParaRPr>
              </a:p>
              <a:p>
                <a:pPr>
                  <a:lnSpc>
                    <a:spcPct val="120000"/>
                  </a:lnSpc>
                </a:pPr>
                <a:endParaRPr lang="en-US" sz="900" b="0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0870FC6-202D-FB5A-D5BD-5D3074EBD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13" y="2996815"/>
                <a:ext cx="7704511" cy="2145267"/>
              </a:xfrm>
              <a:prstGeom prst="rect">
                <a:avLst/>
              </a:prstGeom>
              <a:blipFill>
                <a:blip r:embed="rId4"/>
                <a:stretch>
                  <a:fillRect l="-949" t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9D3FF76-257F-3951-989E-7693B5589D3B}"/>
                  </a:ext>
                </a:extLst>
              </p:cNvPr>
              <p:cNvSpPr txBox="1"/>
              <p:nvPr/>
            </p:nvSpPr>
            <p:spPr>
              <a:xfrm>
                <a:off x="1269868" y="4759130"/>
                <a:ext cx="60960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9D3FF76-257F-3951-989E-7693B5589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868" y="4759130"/>
                <a:ext cx="609600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2180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37e78d7b63_6_84"/>
          <p:cNvSpPr txBox="1"/>
          <p:nvPr/>
        </p:nvSpPr>
        <p:spPr>
          <a:xfrm>
            <a:off x="483988" y="2713554"/>
            <a:ext cx="457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 Return:</a:t>
            </a:r>
            <a:endParaRPr sz="1600" dirty="0"/>
          </a:p>
        </p:txBody>
      </p:sp>
      <p:pic>
        <p:nvPicPr>
          <p:cNvPr id="418" name="Google Shape;418;g337e78d7b63_6_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8993" y="1790913"/>
            <a:ext cx="707881" cy="707881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g337e78d7b63_6_84"/>
          <p:cNvSpPr txBox="1"/>
          <p:nvPr/>
        </p:nvSpPr>
        <p:spPr>
          <a:xfrm>
            <a:off x="197797" y="1167795"/>
            <a:ext cx="8002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635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de-DE" sz="16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de-DE" sz="12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lang="de-DE" sz="12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evaluates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agent’s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considering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de-DE" sz="14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g337e78d7b63_6_84"/>
          <p:cNvCxnSpPr/>
          <p:nvPr/>
        </p:nvCxnSpPr>
        <p:spPr>
          <a:xfrm>
            <a:off x="3862268" y="4235557"/>
            <a:ext cx="480000" cy="0"/>
          </a:xfrm>
          <a:prstGeom prst="straightConnector1">
            <a:avLst/>
          </a:prstGeom>
          <a:noFill/>
          <a:ln w="19050" cap="flat" cmpd="sng">
            <a:solidFill>
              <a:srgbClr val="1F5C99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22" name="Google Shape;422;g337e78d7b63_6_84"/>
          <p:cNvSpPr txBox="1"/>
          <p:nvPr/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500">
                <a:solidFill>
                  <a:srgbClr val="000000"/>
                </a:solidFill>
              </a:rPr>
              <a:t>Deep Reinforcement Learning Problem Definition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423" name="Google Shape;423;g337e78d7b63_6_84"/>
          <p:cNvSpPr txBox="1"/>
          <p:nvPr/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rgbClr val="0065BD"/>
                </a:solidFill>
              </a:rPr>
              <a:t>State, Action and Reward</a:t>
            </a:r>
            <a:endParaRPr sz="1800">
              <a:solidFill>
                <a:srgbClr val="0065BD"/>
              </a:solidFill>
            </a:endParaRPr>
          </a:p>
        </p:txBody>
      </p:sp>
      <p:sp>
        <p:nvSpPr>
          <p:cNvPr id="425" name="Google Shape;425;g337e78d7b63_6_84"/>
          <p:cNvSpPr/>
          <p:nvPr/>
        </p:nvSpPr>
        <p:spPr>
          <a:xfrm>
            <a:off x="5743600" y="1868925"/>
            <a:ext cx="2457000" cy="384900"/>
          </a:xfrm>
          <a:prstGeom prst="rect">
            <a:avLst/>
          </a:prstGeom>
          <a:noFill/>
          <a:ln w="38100" cap="flat" cmpd="sng">
            <a:solidFill>
              <a:srgbClr val="0065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7" name="Google Shape;427;g337e78d7b63_6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5163" y="293445"/>
            <a:ext cx="12573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g337e78d7b63_6_84"/>
          <p:cNvSpPr txBox="1"/>
          <p:nvPr/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>
                <a:solidFill>
                  <a:srgbClr val="000000"/>
                </a:solidFill>
              </a:rPr>
              <a:t>10</a:t>
            </a:fld>
            <a:endParaRPr sz="1100">
              <a:solidFill>
                <a:srgbClr val="000000"/>
              </a:solidFill>
            </a:endParaRPr>
          </a:p>
        </p:txBody>
      </p:sp>
      <p:sp>
        <p:nvSpPr>
          <p:cNvPr id="3" name="Google Shape;434;g2d96214bb3e_2_322">
            <a:extLst>
              <a:ext uri="{FF2B5EF4-FFF2-40B4-BE49-F238E27FC236}">
                <a16:creationId xmlns:a16="http://schemas.microsoft.com/office/drawing/2014/main" id="{6D60F9AF-4B7D-CF99-A91A-15E977A00D64}"/>
              </a:ext>
            </a:extLst>
          </p:cNvPr>
          <p:cNvSpPr txBox="1">
            <a:spLocks/>
          </p:cNvSpPr>
          <p:nvPr/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Presentation for Deep Reinforcement Learning | Tutor: Maotong Sun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D9B1C09-AC4A-7D96-AF9D-E3B2B6DDCA5C}"/>
                  </a:ext>
                </a:extLst>
              </p:cNvPr>
              <p:cNvSpPr txBox="1"/>
              <p:nvPr/>
            </p:nvSpPr>
            <p:spPr>
              <a:xfrm>
                <a:off x="311161" y="1776452"/>
                <a:ext cx="4031107" cy="736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b="0" dirty="0">
                    <a:latin typeface="+mj-lt"/>
                    <a:cs typeface="Arial" panose="020B0604020202020204" pitchFamily="34" charset="0"/>
                  </a:rPr>
                  <a:t>1.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Portfolio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b="0" i="1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1200" b="0" dirty="0">
                    <a:latin typeface="+mj-lt"/>
                    <a:cs typeface="Arial" panose="020B0604020202020204" pitchFamily="34" charset="0"/>
                  </a:rPr>
                  <a:t>(growth of the portfolio)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2.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Transaction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i="1" dirty="0"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(costs from adjusting weights)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3.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Risk Penalty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i="1" dirty="0"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(to discourage high volatility)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D9B1C09-AC4A-7D96-AF9D-E3B2B6DDC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61" y="1776452"/>
                <a:ext cx="4031107" cy="736805"/>
              </a:xfrm>
              <a:prstGeom prst="rect">
                <a:avLst/>
              </a:prstGeom>
              <a:blipFill>
                <a:blip r:embed="rId5"/>
                <a:stretch>
                  <a:fillRect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EDC3C4A-696E-69B1-6988-5D41C03DBCF8}"/>
                  </a:ext>
                </a:extLst>
              </p:cNvPr>
              <p:cNvSpPr txBox="1"/>
              <p:nvPr/>
            </p:nvSpPr>
            <p:spPr>
              <a:xfrm>
                <a:off x="447990" y="3695297"/>
                <a:ext cx="3642425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asset return vector at time 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t. 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portfolio weight vector. 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EDC3C4A-696E-69B1-6988-5D41C03DB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90" y="3695297"/>
                <a:ext cx="3642425" cy="1021883"/>
              </a:xfrm>
              <a:prstGeom prst="rect">
                <a:avLst/>
              </a:prstGeom>
              <a:blipFill>
                <a:blip r:embed="rId6"/>
                <a:stretch>
                  <a:fillRect l="-502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A6AB09B-29A6-5E22-F5B4-EA3AD6E422A3}"/>
                  </a:ext>
                </a:extLst>
              </p:cNvPr>
              <p:cNvSpPr txBox="1"/>
              <p:nvPr/>
            </p:nvSpPr>
            <p:spPr>
              <a:xfrm>
                <a:off x="4072921" y="3274461"/>
                <a:ext cx="998158" cy="2480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A6AB09B-29A6-5E22-F5B4-EA3AD6E42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2921" y="3274461"/>
                <a:ext cx="998158" cy="248017"/>
              </a:xfrm>
              <a:prstGeom prst="rect">
                <a:avLst/>
              </a:prstGeom>
              <a:blipFill>
                <a:blip r:embed="rId7"/>
                <a:stretch>
                  <a:fillRect l="-3659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30E178F-5C83-B636-0266-1003CDCBEFB7}"/>
                  </a:ext>
                </a:extLst>
              </p:cNvPr>
              <p:cNvSpPr txBox="1"/>
              <p:nvPr/>
            </p:nvSpPr>
            <p:spPr>
              <a:xfrm>
                <a:off x="2314601" y="4009205"/>
                <a:ext cx="6096000" cy="713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A30E178F-5C83-B636-0266-1003CDCBE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601" y="4009205"/>
                <a:ext cx="6096000" cy="713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75E192-9A0B-E298-37D1-2A5B8899264B}"/>
                  </a:ext>
                </a:extLst>
              </p:cNvPr>
              <p:cNvSpPr txBox="1"/>
              <p:nvPr/>
            </p:nvSpPr>
            <p:spPr>
              <a:xfrm>
                <a:off x="5919632" y="1938264"/>
                <a:ext cx="210493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𝑟𝑒𝑤𝑎𝑟𝑑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C75E192-9A0B-E298-37D1-2A5B889926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632" y="1938264"/>
                <a:ext cx="2104935" cy="246221"/>
              </a:xfrm>
              <a:prstGeom prst="rect">
                <a:avLst/>
              </a:prstGeom>
              <a:blipFill>
                <a:blip r:embed="rId9"/>
                <a:stretch>
                  <a:fillRect l="-2319" r="-87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>
          <a:extLst>
            <a:ext uri="{FF2B5EF4-FFF2-40B4-BE49-F238E27FC236}">
              <a16:creationId xmlns:a16="http://schemas.microsoft.com/office/drawing/2014/main" id="{C230BACB-B157-A1A6-0C89-867928850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d96214bb3e_2_322">
            <a:extLst>
              <a:ext uri="{FF2B5EF4-FFF2-40B4-BE49-F238E27FC236}">
                <a16:creationId xmlns:a16="http://schemas.microsoft.com/office/drawing/2014/main" id="{B7148A85-E790-514F-7D82-9587F6283E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11</a:t>
            </a:fld>
            <a:endParaRPr/>
          </a:p>
        </p:txBody>
      </p:sp>
      <p:sp>
        <p:nvSpPr>
          <p:cNvPr id="434" name="Google Shape;434;g2d96214bb3e_2_322">
            <a:extLst>
              <a:ext uri="{FF2B5EF4-FFF2-40B4-BE49-F238E27FC236}">
                <a16:creationId xmlns:a16="http://schemas.microsoft.com/office/drawing/2014/main" id="{AC9D1902-928B-3361-3BF8-7395FFE5119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436" name="Google Shape;436;g2d96214bb3e_2_322">
            <a:extLst>
              <a:ext uri="{FF2B5EF4-FFF2-40B4-BE49-F238E27FC236}">
                <a16:creationId xmlns:a16="http://schemas.microsoft.com/office/drawing/2014/main" id="{23ED019C-55B2-C85A-6105-58E57B5A7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Deep Reinforcement Learning Problem Definition</a:t>
            </a:r>
            <a:endParaRPr/>
          </a:p>
        </p:txBody>
      </p:sp>
      <p:sp>
        <p:nvSpPr>
          <p:cNvPr id="437" name="Google Shape;437;g2d96214bb3e_2_322">
            <a:extLst>
              <a:ext uri="{FF2B5EF4-FFF2-40B4-BE49-F238E27FC236}">
                <a16:creationId xmlns:a16="http://schemas.microsoft.com/office/drawing/2014/main" id="{E5813E65-A48E-C599-FC7C-CFB5059EED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State, Action and Reward</a:t>
            </a:r>
            <a:endParaRPr/>
          </a:p>
        </p:txBody>
      </p:sp>
      <p:sp>
        <p:nvSpPr>
          <p:cNvPr id="439" name="Google Shape;439;g2d96214bb3e_2_322">
            <a:extLst>
              <a:ext uri="{FF2B5EF4-FFF2-40B4-BE49-F238E27FC236}">
                <a16:creationId xmlns:a16="http://schemas.microsoft.com/office/drawing/2014/main" id="{112F0859-0D94-41A6-0214-23F1988BA590}"/>
              </a:ext>
            </a:extLst>
          </p:cNvPr>
          <p:cNvSpPr txBox="1"/>
          <p:nvPr/>
        </p:nvSpPr>
        <p:spPr>
          <a:xfrm>
            <a:off x="197797" y="1167795"/>
            <a:ext cx="8002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635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de-DE" sz="16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de-DE" sz="12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lang="de-DE" sz="12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evaluates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agent’s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considering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de-DE" sz="14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92F18-2F34-E1C9-F877-5D00FD931864}"/>
                  </a:ext>
                </a:extLst>
              </p:cNvPr>
              <p:cNvSpPr txBox="1"/>
              <p:nvPr/>
            </p:nvSpPr>
            <p:spPr>
              <a:xfrm>
                <a:off x="311161" y="1776452"/>
                <a:ext cx="6096000" cy="736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b="0" dirty="0">
                    <a:latin typeface="+mj-lt"/>
                    <a:cs typeface="Arial" panose="020B0604020202020204" pitchFamily="34" charset="0"/>
                  </a:rPr>
                  <a:t>1.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Portfolio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b="0" i="1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1200" b="0" dirty="0">
                    <a:latin typeface="+mj-lt"/>
                    <a:cs typeface="Arial" panose="020B0604020202020204" pitchFamily="34" charset="0"/>
                  </a:rPr>
                  <a:t>(growth of the portfolio)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2.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Transaction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i="1" dirty="0"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(costs from adjusting weights)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3.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Risk Penalty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i="1" dirty="0"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(to discourage high volatility)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192F18-2F34-E1C9-F877-5D00FD931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61" y="1776452"/>
                <a:ext cx="6096000" cy="736805"/>
              </a:xfrm>
              <a:prstGeom prst="rect">
                <a:avLst/>
              </a:prstGeom>
              <a:blipFill>
                <a:blip r:embed="rId3"/>
                <a:stretch>
                  <a:fillRect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9FF66F9-B4D9-FD55-8C42-1C33192ADAB7}"/>
                  </a:ext>
                </a:extLst>
              </p:cNvPr>
              <p:cNvSpPr txBox="1"/>
              <p:nvPr/>
            </p:nvSpPr>
            <p:spPr>
              <a:xfrm>
                <a:off x="2286000" y="3256883"/>
                <a:ext cx="4572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sz="1600" i="1" dirty="0">
                    <a:latin typeface="+mj-lt"/>
                  </a:rPr>
                  <a:t> </a:t>
                </a:r>
                <a:endParaRPr lang="en-US" sz="16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9FF66F9-B4D9-FD55-8C42-1C33192AD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256883"/>
                <a:ext cx="4572000" cy="338554"/>
              </a:xfrm>
              <a:prstGeom prst="rect">
                <a:avLst/>
              </a:prstGeom>
              <a:blipFill>
                <a:blip r:embed="rId4"/>
                <a:stretch>
                  <a:fillRect t="-107143" b="-16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E469679-9BF2-6408-7279-21D0DA9E5881}"/>
                  </a:ext>
                </a:extLst>
              </p:cNvPr>
              <p:cNvSpPr txBox="1"/>
              <p:nvPr/>
            </p:nvSpPr>
            <p:spPr>
              <a:xfrm>
                <a:off x="447990" y="3695297"/>
                <a:ext cx="3642425" cy="698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a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transaction cost parameter</a:t>
                </a:r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E469679-9BF2-6408-7279-21D0DA9E5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90" y="3695297"/>
                <a:ext cx="3642425" cy="698717"/>
              </a:xfrm>
              <a:prstGeom prst="rect">
                <a:avLst/>
              </a:prstGeom>
              <a:blipFill>
                <a:blip r:embed="rId5"/>
                <a:stretch>
                  <a:fillRect l="-50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416;g337e78d7b63_6_84">
            <a:extLst>
              <a:ext uri="{FF2B5EF4-FFF2-40B4-BE49-F238E27FC236}">
                <a16:creationId xmlns:a16="http://schemas.microsoft.com/office/drawing/2014/main" id="{5DAECE61-C090-D38A-F5C4-EB48AD5BF8B1}"/>
              </a:ext>
            </a:extLst>
          </p:cNvPr>
          <p:cNvSpPr txBox="1"/>
          <p:nvPr/>
        </p:nvSpPr>
        <p:spPr>
          <a:xfrm>
            <a:off x="483988" y="2713554"/>
            <a:ext cx="457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Transaction Cost</a:t>
            </a:r>
            <a:r>
              <a:rPr lang="de-DE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8238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>
          <a:extLst>
            <a:ext uri="{FF2B5EF4-FFF2-40B4-BE49-F238E27FC236}">
              <a16:creationId xmlns:a16="http://schemas.microsoft.com/office/drawing/2014/main" id="{48329AA7-BFA9-2738-05F1-3F263B3D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d96214bb3e_2_332">
            <a:extLst>
              <a:ext uri="{FF2B5EF4-FFF2-40B4-BE49-F238E27FC236}">
                <a16:creationId xmlns:a16="http://schemas.microsoft.com/office/drawing/2014/main" id="{5E30238F-359E-95A9-882F-DFE15CE8AC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12</a:t>
            </a:fld>
            <a:endParaRPr/>
          </a:p>
        </p:txBody>
      </p:sp>
      <p:sp>
        <p:nvSpPr>
          <p:cNvPr id="445" name="Google Shape;445;g2d96214bb3e_2_332">
            <a:extLst>
              <a:ext uri="{FF2B5EF4-FFF2-40B4-BE49-F238E27FC236}">
                <a16:creationId xmlns:a16="http://schemas.microsoft.com/office/drawing/2014/main" id="{E9C2B24A-87FC-EDB4-74FF-575A42CFC4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448" name="Google Shape;448;g2d96214bb3e_2_332">
            <a:extLst>
              <a:ext uri="{FF2B5EF4-FFF2-40B4-BE49-F238E27FC236}">
                <a16:creationId xmlns:a16="http://schemas.microsoft.com/office/drawing/2014/main" id="{1C45DB55-D579-1956-29F1-694FBEADB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Deep Reinforcement Learning Problem Definition</a:t>
            </a:r>
            <a:endParaRPr/>
          </a:p>
        </p:txBody>
      </p:sp>
      <p:sp>
        <p:nvSpPr>
          <p:cNvPr id="449" name="Google Shape;449;g2d96214bb3e_2_332">
            <a:extLst>
              <a:ext uri="{FF2B5EF4-FFF2-40B4-BE49-F238E27FC236}">
                <a16:creationId xmlns:a16="http://schemas.microsoft.com/office/drawing/2014/main" id="{D9594236-8077-7B61-74AB-582022EDD42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 dirty="0"/>
              <a:t>State, Action and </a:t>
            </a:r>
            <a:r>
              <a:rPr lang="de-DE" dirty="0" err="1"/>
              <a:t>Reward</a:t>
            </a:r>
            <a:endParaRPr dirty="0"/>
          </a:p>
        </p:txBody>
      </p:sp>
      <p:sp>
        <p:nvSpPr>
          <p:cNvPr id="451" name="Google Shape;451;g2d96214bb3e_2_332">
            <a:extLst>
              <a:ext uri="{FF2B5EF4-FFF2-40B4-BE49-F238E27FC236}">
                <a16:creationId xmlns:a16="http://schemas.microsoft.com/office/drawing/2014/main" id="{0E1BB827-4287-255E-5087-B6A501DEEDE1}"/>
              </a:ext>
            </a:extLst>
          </p:cNvPr>
          <p:cNvSpPr txBox="1"/>
          <p:nvPr/>
        </p:nvSpPr>
        <p:spPr>
          <a:xfrm>
            <a:off x="197797" y="1167795"/>
            <a:ext cx="80028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635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de-DE" sz="16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lang="de-DE" sz="16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de-DE" sz="12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reward</a:t>
            </a:r>
            <a:r>
              <a:rPr lang="de-DE" sz="1200" b="1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evaluates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agent’s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considering</a:t>
            </a:r>
            <a:r>
              <a:rPr lang="de-DE" sz="1200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de-DE" sz="140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82F5C5-AF94-59EB-9C53-B536835ED16C}"/>
                  </a:ext>
                </a:extLst>
              </p:cNvPr>
              <p:cNvSpPr txBox="1"/>
              <p:nvPr/>
            </p:nvSpPr>
            <p:spPr>
              <a:xfrm>
                <a:off x="311161" y="1776452"/>
                <a:ext cx="6096000" cy="7368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200" b="0" dirty="0">
                    <a:latin typeface="+mj-lt"/>
                    <a:cs typeface="Arial" panose="020B0604020202020204" pitchFamily="34" charset="0"/>
                  </a:rPr>
                  <a:t>1.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Portfolio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b="0" i="1" dirty="0">
                    <a:latin typeface="+mj-lt"/>
                    <a:cs typeface="Arial" panose="020B0604020202020204" pitchFamily="34" charset="0"/>
                  </a:rPr>
                  <a:t> </a:t>
                </a:r>
                <a:r>
                  <a:rPr lang="en-US" sz="1200" b="0" dirty="0">
                    <a:latin typeface="+mj-lt"/>
                    <a:cs typeface="Arial" panose="020B0604020202020204" pitchFamily="34" charset="0"/>
                  </a:rPr>
                  <a:t>(growth of the portfolio)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2.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Transaction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i="1" dirty="0"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(costs from adjusting weights)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3. </a:t>
                </a:r>
                <a:r>
                  <a:rPr lang="en-US" sz="1200" b="1" dirty="0">
                    <a:latin typeface="+mj-lt"/>
                    <a:cs typeface="Arial" panose="020B0604020202020204" pitchFamily="34" charset="0"/>
                  </a:rPr>
                  <a:t>Risk Penalty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i="1" dirty="0">
                    <a:latin typeface="+mj-lt"/>
                  </a:rPr>
                  <a:t> </a:t>
                </a:r>
                <a:r>
                  <a:rPr lang="en-US" sz="1200" dirty="0">
                    <a:latin typeface="+mj-lt"/>
                    <a:cs typeface="Arial" panose="020B0604020202020204" pitchFamily="34" charset="0"/>
                  </a:rPr>
                  <a:t>(to discourage high volatility)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D82F5C5-AF94-59EB-9C53-B536835ED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61" y="1776452"/>
                <a:ext cx="6096000" cy="736805"/>
              </a:xfrm>
              <a:prstGeom prst="rect">
                <a:avLst/>
              </a:prstGeom>
              <a:blipFill>
                <a:blip r:embed="rId3"/>
                <a:stretch>
                  <a:fillRect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4411AC2-0EF3-AA7C-85A2-CE255DD9D03D}"/>
                  </a:ext>
                </a:extLst>
              </p:cNvPr>
              <p:cNvSpPr txBox="1"/>
              <p:nvPr/>
            </p:nvSpPr>
            <p:spPr>
              <a:xfrm>
                <a:off x="2286000" y="3283717"/>
                <a:ext cx="45720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𝑉𝑎𝑟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𝑤𝑖𝑛𝑑𝑜𝑤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4411AC2-0EF3-AA7C-85A2-CE255DD9D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3283717"/>
                <a:ext cx="4572000" cy="338554"/>
              </a:xfrm>
              <a:prstGeom prst="rect">
                <a:avLst/>
              </a:prstGeom>
              <a:blipFill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416;g337e78d7b63_6_84">
            <a:extLst>
              <a:ext uri="{FF2B5EF4-FFF2-40B4-BE49-F238E27FC236}">
                <a16:creationId xmlns:a16="http://schemas.microsoft.com/office/drawing/2014/main" id="{DCF4A0A7-0D29-194F-B444-CA64CBB1A562}"/>
              </a:ext>
            </a:extLst>
          </p:cNvPr>
          <p:cNvSpPr txBox="1"/>
          <p:nvPr/>
        </p:nvSpPr>
        <p:spPr>
          <a:xfrm>
            <a:off x="483988" y="2713554"/>
            <a:ext cx="457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</a:rPr>
              <a:t>Risk Penalty</a:t>
            </a:r>
            <a:r>
              <a:rPr lang="de-DE" sz="1600" b="1" dirty="0">
                <a:solidFill>
                  <a:schemeClr val="dk1"/>
                </a:solidFill>
              </a:rPr>
              <a:t>:</a:t>
            </a:r>
            <a:endParaRPr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2728DE6-7ECD-AF75-7947-3C6E51F6308C}"/>
                  </a:ext>
                </a:extLst>
              </p:cNvPr>
              <p:cNvSpPr txBox="1"/>
              <p:nvPr/>
            </p:nvSpPr>
            <p:spPr>
              <a:xfrm>
                <a:off x="447990" y="3695297"/>
                <a:ext cx="7606350" cy="10218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+mj-lt"/>
                    <a:cs typeface="Arial" panose="020B0604020202020204" pitchFamily="34" charset="0"/>
                  </a:rPr>
                  <a:t>where: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b="0" dirty="0">
                    <a:latin typeface="+mj-lt"/>
                    <a:ea typeface="Cambria Math" panose="02040503050406030204" pitchFamily="18" charset="0"/>
                  </a:rPr>
                  <a:t> is a </a:t>
                </a:r>
                <a:r>
                  <a:rPr lang="en-US" sz="1400" b="1" dirty="0">
                    <a:latin typeface="+mj-lt"/>
                    <a:ea typeface="Cambria Math" panose="02040503050406030204" pitchFamily="18" charset="0"/>
                  </a:rPr>
                  <a:t>risk aversion coefficient</a:t>
                </a:r>
                <a:r>
                  <a:rPr lang="en-US" sz="1400" b="0" dirty="0">
                    <a:latin typeface="+mj-lt"/>
                    <a:ea typeface="Cambria Math" panose="02040503050406030204" pitchFamily="18" charset="0"/>
                  </a:rPr>
                  <a:t>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𝑉𝑎𝑟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𝑤𝑖𝑛𝑑𝑜𝑤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 of the portfolio returns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over the past window days.</a:t>
                </a:r>
                <a:endParaRPr lang="en-US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2728DE6-7ECD-AF75-7947-3C6E51F63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90" y="3695297"/>
                <a:ext cx="7606350" cy="1021883"/>
              </a:xfrm>
              <a:prstGeom prst="rect">
                <a:avLst/>
              </a:prstGeom>
              <a:blipFill>
                <a:blip r:embed="rId5"/>
                <a:stretch>
                  <a:fillRect l="-240" b="-5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429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7e78d7b63_7_2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13</a:t>
            </a:fld>
            <a:endParaRPr/>
          </a:p>
        </p:txBody>
      </p:sp>
      <p:sp>
        <p:nvSpPr>
          <p:cNvPr id="458" name="Google Shape;458;g337e78d7b63_7_23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459" name="Google Shape;459;g337e78d7b63_7_23"/>
          <p:cNvSpPr txBox="1"/>
          <p:nvPr/>
        </p:nvSpPr>
        <p:spPr>
          <a:xfrm>
            <a:off x="191575" y="975004"/>
            <a:ext cx="3389700" cy="10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76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de-DE" sz="1700" b="1" dirty="0">
                <a:solidFill>
                  <a:schemeClr val="dk1"/>
                </a:solidFill>
                <a:highlight>
                  <a:srgbClr val="FFFFFF"/>
                </a:highlight>
              </a:rPr>
              <a:t>3. </a:t>
            </a:r>
            <a:r>
              <a:rPr lang="de-DE" sz="17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Reward</a:t>
            </a:r>
            <a:r>
              <a:rPr lang="de-DE" sz="1700" b="1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de-DE" sz="1700" b="1" dirty="0" err="1">
                <a:solidFill>
                  <a:schemeClr val="dk1"/>
                </a:solidFill>
                <a:highlight>
                  <a:srgbClr val="FFFFFF"/>
                </a:highlight>
              </a:rPr>
              <a:t>Function</a:t>
            </a:r>
            <a:r>
              <a:rPr lang="de-DE" sz="1700" b="1" dirty="0">
                <a:solidFill>
                  <a:schemeClr val="dk1"/>
                </a:solidFill>
                <a:highlight>
                  <a:srgbClr val="FFFFFF"/>
                </a:highlight>
              </a:rPr>
              <a:t> (</a:t>
            </a:r>
            <a:r>
              <a:rPr lang="de-DE" sz="1700" b="1" dirty="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de-DE" sz="1700" b="1" dirty="0">
                <a:solidFill>
                  <a:schemeClr val="dk1"/>
                </a:solidFill>
                <a:highlight>
                  <a:srgbClr val="FFFFFF"/>
                </a:highlight>
              </a:rPr>
              <a:t>)</a:t>
            </a:r>
            <a:endParaRPr sz="1050" dirty="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1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g337e78d7b63_7_23"/>
          <p:cNvSpPr txBox="1"/>
          <p:nvPr/>
        </p:nvSpPr>
        <p:spPr>
          <a:xfrm>
            <a:off x="-49700" y="2843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463" name="Google Shape;463;g337e78d7b63_7_23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Deep Reinforcement Learning Problem Definition</a:t>
            </a:r>
            <a:endParaRPr dirty="0"/>
          </a:p>
        </p:txBody>
      </p:sp>
      <p:sp>
        <p:nvSpPr>
          <p:cNvPr id="464" name="Google Shape;464;g337e78d7b63_7_23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 dirty="0"/>
              <a:t>State, Action and </a:t>
            </a:r>
            <a:r>
              <a:rPr lang="de-DE" dirty="0" err="1"/>
              <a:t>Reward</a:t>
            </a:r>
            <a:endParaRPr dirty="0"/>
          </a:p>
        </p:txBody>
      </p:sp>
      <p:sp>
        <p:nvSpPr>
          <p:cNvPr id="466" name="Google Shape;466;g337e78d7b63_7_23"/>
          <p:cNvSpPr/>
          <p:nvPr/>
        </p:nvSpPr>
        <p:spPr>
          <a:xfrm>
            <a:off x="645327" y="1685589"/>
            <a:ext cx="2728760" cy="400200"/>
          </a:xfrm>
          <a:prstGeom prst="rect">
            <a:avLst/>
          </a:prstGeom>
          <a:noFill/>
          <a:ln w="38100" cap="flat" cmpd="sng">
            <a:solidFill>
              <a:srgbClr val="0065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Google Shape;468;g337e78d7b63_7_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849" y="1549716"/>
            <a:ext cx="605325" cy="6053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3091FE5-428E-D40B-034A-18F12814B97B}"/>
                  </a:ext>
                </a:extLst>
              </p:cNvPr>
              <p:cNvSpPr txBox="1"/>
              <p:nvPr/>
            </p:nvSpPr>
            <p:spPr>
              <a:xfrm>
                <a:off x="555625" y="2054404"/>
                <a:ext cx="7844960" cy="1237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𝑟𝑒𝑤𝑎𝑟𝑑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𝑝𝑜𝑟𝑡𝑓𝑜𝑙𝑖𝑜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              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𝑝𝑜𝑟𝑡𝑓𝑜𝑙𝑖𝑜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𝑝𝑜𝑟𝑡𝑓𝑜𝑙𝑖𝑜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𝑣𝑎𝑙𝑢𝑒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3091FE5-428E-D40B-034A-18F12814B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25" y="2054404"/>
                <a:ext cx="7844960" cy="12379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4F68A11-DF80-21C8-3778-4621FE4CFBEA}"/>
                  </a:ext>
                </a:extLst>
              </p:cNvPr>
              <p:cNvSpPr txBox="1"/>
              <p:nvPr/>
            </p:nvSpPr>
            <p:spPr>
              <a:xfrm>
                <a:off x="709520" y="1717630"/>
                <a:ext cx="262456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𝑟𝑒𝑤𝑎𝑟𝑑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4F68A11-DF80-21C8-3778-4621FE4CF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20" y="1717630"/>
                <a:ext cx="2624565" cy="307777"/>
              </a:xfrm>
              <a:prstGeom prst="rect">
                <a:avLst/>
              </a:prstGeom>
              <a:blipFill>
                <a:blip r:embed="rId5"/>
                <a:stretch>
                  <a:fillRect l="-2320" r="-69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2CFD7E-82E7-1CBC-331C-495EE54D7BF4}"/>
                  </a:ext>
                </a:extLst>
              </p:cNvPr>
              <p:cNvSpPr txBox="1"/>
              <p:nvPr/>
            </p:nvSpPr>
            <p:spPr>
              <a:xfrm>
                <a:off x="600476" y="3191261"/>
                <a:ext cx="7606350" cy="19379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𝒘</m:t>
                        </m:r>
                      </m:e>
                      <m:sub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weighted allocated to asset </a:t>
                </a:r>
                <a14:m>
                  <m:oMath xmlns:m="http://schemas.openxmlformats.org/officeDocument/2006/math">
                    <m:r>
                      <a:rPr lang="en-US" sz="1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</m:oMath>
                </a14:m>
                <a:r>
                  <a:rPr lang="en-US" sz="1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 time </a:t>
                </a:r>
                <a14:m>
                  <m:oMath xmlns:m="http://schemas.openxmlformats.org/officeDocument/2006/math">
                    <m:r>
                      <a:rPr lang="en-US" sz="1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</m:oMath>
                </a14:m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𝒓</m:t>
                        </m:r>
                      </m:e>
                      <m:sub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𝒕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0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return of asset </a:t>
                </a:r>
                <a14:m>
                  <m:oMath xmlns:m="http://schemas.openxmlformats.org/officeDocument/2006/math">
                    <m:r>
                      <a:rPr lang="en-US" sz="1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</m:oMath>
                </a14:m>
                <a:r>
                  <a:rPr lang="en-US" sz="1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 time </a:t>
                </a:r>
                <a14:m>
                  <m:oMath xmlns:m="http://schemas.openxmlformats.org/officeDocument/2006/math">
                    <m:r>
                      <a:rPr lang="en-US" sz="10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𝒕</m:t>
                    </m:r>
                  </m:oMath>
                </a14:m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𝛏</m:t>
                    </m:r>
                  </m:oMath>
                </a14:m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transaction cost rate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risk penalty coefficient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1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</m:ctrlPr>
                      </m:sSubSupPr>
                      <m:e>
                        <m:r>
                          <a:rPr kumimoji="0" lang="en-US" sz="1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𝝈</m:t>
                        </m:r>
                      </m:e>
                      <m:sub>
                        <m:r>
                          <a:rPr kumimoji="0" lang="en-US" sz="1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𝒕</m:t>
                        </m:r>
                      </m:sub>
                      <m:sup>
                        <m:r>
                          <a:rPr kumimoji="0" lang="en-US" sz="1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 of the portfolio returns over the past </a:t>
                </a:r>
                <a:r>
                  <a:rPr lang="en-US" sz="1000" b="1" dirty="0"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window</a:t>
                </a:r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days</a:t>
                </a: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22CFD7E-82E7-1CBC-331C-495EE54D7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76" y="3191261"/>
                <a:ext cx="7606350" cy="19379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E99B-EFEE-FE43-05A4-D59D8BC5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A5928-0AC4-583B-887E-6BA4128E69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/>
          </a:p>
        </p:txBody>
      </p:sp>
      <p:sp>
        <p:nvSpPr>
          <p:cNvPr id="11" name="Google Shape;464;g337e78d7b63_7_23">
            <a:extLst>
              <a:ext uri="{FF2B5EF4-FFF2-40B4-BE49-F238E27FC236}">
                <a16:creationId xmlns:a16="http://schemas.microsoft.com/office/drawing/2014/main" id="{FF93F716-152F-1DB6-568B-968BED821AA7}"/>
              </a:ext>
            </a:extLst>
          </p:cNvPr>
          <p:cNvSpPr txBox="1">
            <a:spLocks/>
          </p:cNvSpPr>
          <p:nvPr/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lt2"/>
              </a:buClr>
              <a:buSzPts val="1800"/>
            </a:pPr>
            <a:r>
              <a:rPr lang="en-US" altLang="zh-CN" sz="1800" dirty="0">
                <a:solidFill>
                  <a:schemeClr val="tx2"/>
                </a:solidFill>
              </a:rPr>
              <a:t>Bellman Equation and Q-value Update</a:t>
            </a:r>
            <a:endParaRPr lang="de-DE" sz="18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DD0D16-5C08-F933-9EBD-0E367C3351FD}"/>
                  </a:ext>
                </a:extLst>
              </p:cNvPr>
              <p:cNvSpPr txBox="1"/>
              <p:nvPr/>
            </p:nvSpPr>
            <p:spPr>
              <a:xfrm>
                <a:off x="2109521" y="1877960"/>
                <a:ext cx="4912179" cy="3834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DD0D16-5C08-F933-9EBD-0E367C335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521" y="1877960"/>
                <a:ext cx="4912179" cy="3834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72E414C-E3D7-2459-6F3F-CC9083C02264}"/>
                  </a:ext>
                </a:extLst>
              </p:cNvPr>
              <p:cNvSpPr txBox="1"/>
              <p:nvPr/>
            </p:nvSpPr>
            <p:spPr>
              <a:xfrm>
                <a:off x="319088" y="2174297"/>
                <a:ext cx="7606350" cy="1052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discount factor,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·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] is the conditional expectation on the realization of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72E414C-E3D7-2459-6F3F-CC9083C02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88" y="2174297"/>
                <a:ext cx="7606350" cy="1052468"/>
              </a:xfrm>
              <a:prstGeom prst="rect">
                <a:avLst/>
              </a:prstGeom>
              <a:blipFill>
                <a:blip r:embed="rId3"/>
                <a:stretch>
                  <a:fillRect l="-240" b="-5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463;g337e78d7b63_7_23">
            <a:extLst>
              <a:ext uri="{FF2B5EF4-FFF2-40B4-BE49-F238E27FC236}">
                <a16:creationId xmlns:a16="http://schemas.microsoft.com/office/drawing/2014/main" id="{438E7653-A3CA-CD76-E690-C478D6EF7242}"/>
              </a:ext>
            </a:extLst>
          </p:cNvPr>
          <p:cNvSpPr txBox="1">
            <a:spLocks/>
          </p:cNvSpPr>
          <p:nvPr/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Deep Reinforcement Learning 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7">
                <a:extLst>
                  <a:ext uri="{FF2B5EF4-FFF2-40B4-BE49-F238E27FC236}">
                    <a16:creationId xmlns:a16="http://schemas.microsoft.com/office/drawing/2014/main" id="{16CAA585-CF6C-8A6C-701E-A947BF7ABB4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9088" y="1222375"/>
                <a:ext cx="8509000" cy="491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/>
                <a:r>
                  <a:rPr lang="en-US" altLang="zh-CN" dirty="0"/>
                  <a:t>Policies are evaluated using an action-value function,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 (i.e., the </a:t>
                </a:r>
                <a:r>
                  <a:rPr lang="en-US" altLang="zh-CN" b="1" dirty="0"/>
                  <a:t>Q-function</a:t>
                </a:r>
                <a:r>
                  <a:rPr lang="en-US" altLang="zh-CN" dirty="0"/>
                  <a:t>). </a:t>
                </a:r>
                <a:r>
                  <a:rPr lang="en-US" altLang="zh-CN" dirty="0" err="1"/>
                  <a:t>Wiering</a:t>
                </a:r>
                <a:r>
                  <a:rPr lang="en-US" altLang="zh-CN" dirty="0"/>
                  <a:t> and </a:t>
                </a:r>
                <a:r>
                  <a:rPr lang="en-US" altLang="zh-CN" dirty="0" err="1"/>
                  <a:t>Otterlo</a:t>
                </a:r>
                <a:r>
                  <a:rPr lang="en-US" altLang="zh-CN" dirty="0"/>
                  <a:t> (2012) expressed this function as a </a:t>
                </a:r>
                <a:r>
                  <a:rPr lang="en-US" altLang="zh-CN" b="1" dirty="0"/>
                  <a:t>Bellman equation</a:t>
                </a:r>
                <a:r>
                  <a:rPr lang="en-US" altLang="zh-CN" dirty="0"/>
                  <a:t>: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TextBox 7">
                <a:extLst>
                  <a:ext uri="{FF2B5EF4-FFF2-40B4-BE49-F238E27FC236}">
                    <a16:creationId xmlns:a16="http://schemas.microsoft.com/office/drawing/2014/main" id="{16CAA585-CF6C-8A6C-701E-A947BF7ABB4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9088" y="1222375"/>
                <a:ext cx="8509000" cy="491160"/>
              </a:xfrm>
              <a:prstGeom prst="rect">
                <a:avLst/>
              </a:prstGeom>
              <a:blipFill>
                <a:blip r:embed="rId4"/>
                <a:stretch>
                  <a:fillRect l="-1289" t="-100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7482C8F3-86D1-C8C4-EA48-EB33AE56A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382" y="4075034"/>
            <a:ext cx="6305235" cy="499685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39751F75-78AF-23FC-D9F0-77CBCC92953C}"/>
              </a:ext>
            </a:extLst>
          </p:cNvPr>
          <p:cNvSpPr txBox="1">
            <a:spLocks/>
          </p:cNvSpPr>
          <p:nvPr/>
        </p:nvSpPr>
        <p:spPr>
          <a:xfrm>
            <a:off x="347942" y="3429965"/>
            <a:ext cx="8509000" cy="4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altLang="zh-CN" dirty="0"/>
              <a:t>The </a:t>
            </a:r>
            <a:r>
              <a:rPr lang="en-US" altLang="zh-CN" b="1" dirty="0"/>
              <a:t>updated Q-value </a:t>
            </a:r>
            <a:r>
              <a:rPr lang="en-US" altLang="zh-CN" dirty="0"/>
              <a:t>is determined by multiplying the temporal difference error and learning rate and adding it to the current Q-value, thus we have: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3158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37e78d7b63_7_60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15</a:t>
            </a:fld>
            <a:endParaRPr/>
          </a:p>
        </p:txBody>
      </p:sp>
      <p:sp>
        <p:nvSpPr>
          <p:cNvPr id="474" name="Google Shape;474;g337e78d7b63_7_60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475" name="Google Shape;475;g337e78d7b63_7_60"/>
          <p:cNvSpPr txBox="1"/>
          <p:nvPr/>
        </p:nvSpPr>
        <p:spPr>
          <a:xfrm>
            <a:off x="311161" y="1356508"/>
            <a:ext cx="5823900" cy="7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700" b="1" dirty="0">
                <a:solidFill>
                  <a:schemeClr val="dk1"/>
                </a:solidFill>
                <a:highlight>
                  <a:srgbClr val="FFFFFF"/>
                </a:highlight>
              </a:rPr>
              <a:t>Summary</a:t>
            </a:r>
            <a:endParaRPr sz="1700" b="1" dirty="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477" name="Google Shape;477;g337e78d7b63_7_60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Deep Reinforcement Learning Problem Definition</a:t>
            </a:r>
            <a:endParaRPr/>
          </a:p>
        </p:txBody>
      </p:sp>
      <p:sp>
        <p:nvSpPr>
          <p:cNvPr id="478" name="Google Shape;478;g337e78d7b63_7_60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State, Action and Reward</a:t>
            </a:r>
            <a:endParaRPr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EB5E10A-E257-8DD9-3FBF-557153B88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137981"/>
              </p:ext>
            </p:extLst>
          </p:nvPr>
        </p:nvGraphicFramePr>
        <p:xfrm>
          <a:off x="1548091" y="2204339"/>
          <a:ext cx="6035040" cy="14833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312622">
                  <a:extLst>
                    <a:ext uri="{9D8B030D-6E8A-4147-A177-3AD203B41FA5}">
                      <a16:colId xmlns:a16="http://schemas.microsoft.com/office/drawing/2014/main" val="4125319751"/>
                    </a:ext>
                  </a:extLst>
                </a:gridCol>
                <a:gridCol w="4722418">
                  <a:extLst>
                    <a:ext uri="{9D8B030D-6E8A-4147-A177-3AD203B41FA5}">
                      <a16:colId xmlns:a16="http://schemas.microsoft.com/office/drawing/2014/main" val="991827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334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State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Asset prices (normalized) + previous portfolio weights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534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Action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Adjustment to portfolio 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27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Reward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Portfolio return – transaction costs – risk penalty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8167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C580A115-CF81-3898-768B-54266DBE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">
            <a:extLst>
              <a:ext uri="{FF2B5EF4-FFF2-40B4-BE49-F238E27FC236}">
                <a16:creationId xmlns:a16="http://schemas.microsoft.com/office/drawing/2014/main" id="{657187B9-E3A8-E1C8-6A5C-449D43AC65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80" y="1860270"/>
            <a:ext cx="406142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b="1" dirty="0"/>
              <a:t>Model</a:t>
            </a:r>
            <a:br>
              <a:rPr lang="de-DE" sz="4000" b="1" dirty="0"/>
            </a:br>
            <a:r>
              <a:rPr lang="de-DE" sz="4000" b="1" dirty="0"/>
              <a:t>Building</a:t>
            </a:r>
          </a:p>
        </p:txBody>
      </p:sp>
      <p:sp>
        <p:nvSpPr>
          <p:cNvPr id="345" name="Google Shape;345;p4">
            <a:extLst>
              <a:ext uri="{FF2B5EF4-FFF2-40B4-BE49-F238E27FC236}">
                <a16:creationId xmlns:a16="http://schemas.microsoft.com/office/drawing/2014/main" id="{8B4EF0E8-2960-DF02-FAAA-5DC4A4C17CBB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Deep Reinforcement Learning | Tutor: </a:t>
            </a:r>
            <a:r>
              <a:rPr lang="de-DE" dirty="0" err="1"/>
              <a:t>Maotong</a:t>
            </a:r>
            <a:r>
              <a:rPr lang="de-DE" dirty="0"/>
              <a:t> Sun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952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37e78d7b63_1_2"/>
          <p:cNvSpPr txBox="1"/>
          <p:nvPr/>
        </p:nvSpPr>
        <p:spPr>
          <a:xfrm>
            <a:off x="168575" y="1333750"/>
            <a:ext cx="8508900" cy="361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7625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de-DE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</a:t>
            </a:r>
            <a:r>
              <a:rPr lang="de-DE" sz="1500" b="1" dirty="0" err="1">
                <a:solidFill>
                  <a:schemeClr val="dk1"/>
                </a:solidFill>
              </a:rPr>
              <a:t>V</a:t>
            </a:r>
            <a:r>
              <a:rPr lang="de-DE" sz="15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ariance</a:t>
            </a:r>
            <a:r>
              <a:rPr lang="de-DE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500" b="1" dirty="0" err="1">
                <a:solidFill>
                  <a:schemeClr val="dk1"/>
                </a:solidFill>
              </a:rPr>
              <a:t>S</a:t>
            </a:r>
            <a:r>
              <a:rPr lang="de-DE" sz="15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trategy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 dirty="0" err="1">
                <a:solidFill>
                  <a:schemeClr val="dk1"/>
                </a:solidFill>
              </a:rPr>
              <a:t>U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period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=5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days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code)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calculate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covariance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2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assets</a:t>
            </a:r>
            <a:r>
              <a:rPr lang="de-DE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 dirty="0" err="1">
                <a:solidFill>
                  <a:schemeClr val="dk1"/>
                </a:solidFill>
              </a:rPr>
              <a:t>Aims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to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minimize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overall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portfolio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risk</a:t>
            </a:r>
            <a:r>
              <a:rPr lang="de-DE" sz="1200" b="1" dirty="0">
                <a:solidFill>
                  <a:schemeClr val="lt2"/>
                </a:solidFill>
              </a:rPr>
              <a:t> (</a:t>
            </a:r>
            <a:r>
              <a:rPr lang="de-DE" sz="1200" b="1" dirty="0" err="1">
                <a:solidFill>
                  <a:schemeClr val="lt2"/>
                </a:solidFill>
              </a:rPr>
              <a:t>measured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as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variance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or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standard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deviation</a:t>
            </a:r>
            <a:r>
              <a:rPr lang="de-DE" sz="1200" b="1" dirty="0">
                <a:solidFill>
                  <a:schemeClr val="lt2"/>
                </a:solidFill>
              </a:rPr>
              <a:t>) </a:t>
            </a:r>
            <a:r>
              <a:rPr lang="de-DE" sz="1200" b="1" dirty="0" err="1">
                <a:solidFill>
                  <a:schemeClr val="lt2"/>
                </a:solidFill>
              </a:rPr>
              <a:t>by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optimizing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asset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weights</a:t>
            </a:r>
            <a:r>
              <a:rPr lang="de-DE" sz="1200" dirty="0">
                <a:solidFill>
                  <a:schemeClr val="lt2"/>
                </a:solidFill>
              </a:rPr>
              <a:t>.</a:t>
            </a:r>
          </a:p>
          <a:p>
            <a:pPr marL="1524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endParaRPr dirty="0">
              <a:solidFill>
                <a:schemeClr val="dk1"/>
              </a:solidFill>
            </a:endParaRPr>
          </a:p>
          <a:p>
            <a:pPr marL="47625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 startAt="2"/>
            </a:pPr>
            <a:r>
              <a:rPr lang="de-DE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Maximum Sharpe Ratio </a:t>
            </a:r>
            <a:r>
              <a:rPr lang="de-DE" sz="15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 dirty="0">
                <a:solidFill>
                  <a:schemeClr val="dk1"/>
                </a:solidFill>
              </a:rPr>
              <a:t>The Sharpe Ratio </a:t>
            </a:r>
            <a:r>
              <a:rPr lang="de-DE" sz="1200" dirty="0" err="1">
                <a:solidFill>
                  <a:schemeClr val="dk1"/>
                </a:solidFill>
              </a:rPr>
              <a:t>measures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the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ratio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of</a:t>
            </a:r>
            <a:r>
              <a:rPr lang="de-DE" sz="1200" dirty="0">
                <a:solidFill>
                  <a:schemeClr val="dk1"/>
                </a:solidFill>
              </a:rPr>
              <a:t> a </a:t>
            </a:r>
            <a:r>
              <a:rPr lang="de-DE" sz="1200" dirty="0" err="1">
                <a:solidFill>
                  <a:schemeClr val="dk1"/>
                </a:solidFill>
              </a:rPr>
              <a:t>portfolio's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excess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return</a:t>
            </a:r>
            <a:r>
              <a:rPr lang="de-DE" sz="1200" dirty="0">
                <a:solidFill>
                  <a:schemeClr val="dk1"/>
                </a:solidFill>
              </a:rPr>
              <a:t> (</a:t>
            </a:r>
            <a:r>
              <a:rPr lang="de-DE" sz="1200" dirty="0" err="1">
                <a:solidFill>
                  <a:schemeClr val="dk1"/>
                </a:solidFill>
              </a:rPr>
              <a:t>the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excess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over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the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risk-free</a:t>
            </a:r>
            <a:r>
              <a:rPr lang="de-DE" sz="1200" dirty="0">
                <a:solidFill>
                  <a:schemeClr val="dk1"/>
                </a:solidFill>
              </a:rPr>
              <a:t> rate </a:t>
            </a:r>
            <a:r>
              <a:rPr lang="de-DE" sz="1200" dirty="0" err="1">
                <a:solidFill>
                  <a:schemeClr val="dk1"/>
                </a:solidFill>
              </a:rPr>
              <a:t>of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return</a:t>
            </a:r>
            <a:r>
              <a:rPr lang="de-DE" sz="1200" dirty="0">
                <a:solidFill>
                  <a:schemeClr val="dk1"/>
                </a:solidFill>
              </a:rPr>
              <a:t>) </a:t>
            </a:r>
            <a:r>
              <a:rPr lang="de-DE" sz="1200" dirty="0" err="1">
                <a:solidFill>
                  <a:schemeClr val="dk1"/>
                </a:solidFill>
              </a:rPr>
              <a:t>to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its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volatility</a:t>
            </a:r>
            <a:r>
              <a:rPr lang="de-DE" sz="1200" dirty="0">
                <a:solidFill>
                  <a:schemeClr val="dk1"/>
                </a:solidFill>
              </a:rPr>
              <a:t> (i.e., </a:t>
            </a:r>
            <a:r>
              <a:rPr lang="de-DE" sz="1200" dirty="0" err="1">
                <a:solidFill>
                  <a:schemeClr val="dk1"/>
                </a:solidFill>
              </a:rPr>
              <a:t>risk</a:t>
            </a:r>
            <a:r>
              <a:rPr lang="de-DE" sz="1200" dirty="0">
                <a:solidFill>
                  <a:schemeClr val="dk1"/>
                </a:solidFill>
              </a:rPr>
              <a:t>).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 dirty="0" err="1">
                <a:solidFill>
                  <a:schemeClr val="dk1"/>
                </a:solidFill>
              </a:rPr>
              <a:t>Aims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to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maximize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the</a:t>
            </a:r>
            <a:r>
              <a:rPr lang="de-DE" sz="1200" b="1" dirty="0">
                <a:solidFill>
                  <a:schemeClr val="lt2"/>
                </a:solidFill>
              </a:rPr>
              <a:t> Sharpe </a:t>
            </a:r>
            <a:r>
              <a:rPr lang="de-DE" sz="1200" b="1" dirty="0" err="1">
                <a:solidFill>
                  <a:schemeClr val="lt2"/>
                </a:solidFill>
              </a:rPr>
              <a:t>ratio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of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the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portfolio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by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optimizing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asset</a:t>
            </a:r>
            <a:r>
              <a:rPr lang="de-DE" sz="1200" b="1" dirty="0">
                <a:solidFill>
                  <a:schemeClr val="lt2"/>
                </a:solidFill>
              </a:rPr>
              <a:t> </a:t>
            </a:r>
            <a:r>
              <a:rPr lang="de-DE" sz="1200" b="1" dirty="0" err="1">
                <a:solidFill>
                  <a:schemeClr val="lt2"/>
                </a:solidFill>
              </a:rPr>
              <a:t>weights</a:t>
            </a:r>
            <a:r>
              <a:rPr lang="de-DE" sz="1200" b="1" dirty="0">
                <a:solidFill>
                  <a:schemeClr val="lt2"/>
                </a:solidFill>
              </a:rPr>
              <a:t>.</a:t>
            </a:r>
            <a:endParaRPr sz="1200" dirty="0"/>
          </a:p>
        </p:txBody>
      </p:sp>
      <p:sp>
        <p:nvSpPr>
          <p:cNvPr id="488" name="Google Shape;488;g337e78d7b63_1_2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Baseline Methods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DRL</a:t>
            </a:r>
            <a:endParaRPr dirty="0"/>
          </a:p>
        </p:txBody>
      </p:sp>
      <p:sp>
        <p:nvSpPr>
          <p:cNvPr id="489" name="Google Shape;489;g337e78d7b63_1_2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 dirty="0"/>
              <a:t>Traditional Investment </a:t>
            </a:r>
            <a:r>
              <a:rPr lang="de-DE" dirty="0" err="1"/>
              <a:t>Strategies</a:t>
            </a:r>
            <a:r>
              <a:rPr lang="de-DE" dirty="0"/>
              <a:t> (</a:t>
            </a:r>
            <a:r>
              <a:rPr lang="de-DE" dirty="0" err="1"/>
              <a:t>Markowitz’s</a:t>
            </a:r>
            <a:r>
              <a:rPr lang="de-DE" dirty="0"/>
              <a:t> Modern Portfolio Theory)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97D952-0959-C159-A7A3-CFFAF9110ABC}"/>
                  </a:ext>
                </a:extLst>
              </p:cNvPr>
              <p:cNvSpPr txBox="1"/>
              <p:nvPr/>
            </p:nvSpPr>
            <p:spPr>
              <a:xfrm>
                <a:off x="2006370" y="3296601"/>
                <a:ext cx="4833310" cy="447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𝑠h𝑎𝑟𝑝𝑒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𝑟𝑎𝑡𝑖𝑜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𝐸𝑥𝑝𝑒𝑐𝑡𝑒𝑑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𝑝𝑜𝑟𝑡𝑓𝑜𝑙𝑖𝑜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𝑟𝑒𝑡𝑢𝑟𝑛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𝑅𝑖𝑠𝑘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𝑓𝑟𝑒𝑒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𝑃𝑜𝑟𝑡𝑓𝑜𝑙𝑖𝑜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𝑉𝑜𝑙𝑎𝑡𝑖𝑙𝑖𝑡𝑦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97D952-0959-C159-A7A3-CFFAF9110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370" y="3296601"/>
                <a:ext cx="4833310" cy="447302"/>
              </a:xfrm>
              <a:prstGeom prst="rect">
                <a:avLst/>
              </a:prstGeom>
              <a:blipFill>
                <a:blip r:embed="rId3"/>
                <a:stretch>
                  <a:fillRect l="-631" t="-2740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DD1C01-EB67-0625-7C66-21FD20810CC8}"/>
                  </a:ext>
                </a:extLst>
              </p:cNvPr>
              <p:cNvSpPr txBox="1"/>
              <p:nvPr/>
            </p:nvSpPr>
            <p:spPr>
              <a:xfrm>
                <a:off x="2105275" y="1707125"/>
                <a:ext cx="463550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𝑎𝑟𝑔𝑚𝑖𝑛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𝑟𝑒𝑐𝑒𝑛𝑡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𝑝𝑜𝑟𝑡𝑓𝑜𝑙𝑖𝑜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𝑟𝑒𝑡𝑢𝑟𝑛𝑠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8DD1C01-EB67-0625-7C66-21FD20810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275" y="1707125"/>
                <a:ext cx="4635500" cy="276999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B9D3EA1-0120-2CC6-BD01-76065BA4FE1F}"/>
                  </a:ext>
                </a:extLst>
              </p:cNvPr>
              <p:cNvSpPr txBox="1"/>
              <p:nvPr/>
            </p:nvSpPr>
            <p:spPr>
              <a:xfrm>
                <a:off x="3080033" y="3847947"/>
                <a:ext cx="2902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𝑎𝑟𝑔𝑚𝑎𝑥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𝑆h𝑎𝑟𝑝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B9D3EA1-0120-2CC6-BD01-76065BA4F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033" y="3847947"/>
                <a:ext cx="2902654" cy="276999"/>
              </a:xfrm>
              <a:prstGeom prst="rect">
                <a:avLst/>
              </a:prstGeom>
              <a:blipFill>
                <a:blip r:embed="rId5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473;g337e78d7b63_7_60">
            <a:extLst>
              <a:ext uri="{FF2B5EF4-FFF2-40B4-BE49-F238E27FC236}">
                <a16:creationId xmlns:a16="http://schemas.microsoft.com/office/drawing/2014/main" id="{3E72FBE1-D275-191D-C86B-607C98895A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d96214bb3e_2_4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18</a:t>
            </a:fld>
            <a:endParaRPr/>
          </a:p>
        </p:txBody>
      </p:sp>
      <p:sp>
        <p:nvSpPr>
          <p:cNvPr id="495" name="Google Shape;495;g2d96214bb3e_2_43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496" name="Google Shape;496;g2d96214bb3e_2_43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Deep Reinforcement Learning Model Building</a:t>
            </a:r>
            <a:endParaRPr/>
          </a:p>
        </p:txBody>
      </p:sp>
      <p:sp>
        <p:nvSpPr>
          <p:cNvPr id="497" name="Google Shape;497;g2d96214bb3e_2_43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TD3 Algorithm</a:t>
            </a:r>
            <a:endParaRPr/>
          </a:p>
        </p:txBody>
      </p:sp>
      <p:sp>
        <p:nvSpPr>
          <p:cNvPr id="498" name="Google Shape;498;g2d96214bb3e_2_43"/>
          <p:cNvSpPr txBox="1"/>
          <p:nvPr/>
        </p:nvSpPr>
        <p:spPr>
          <a:xfrm>
            <a:off x="505200" y="1790375"/>
            <a:ext cx="8133600" cy="18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300" b="1" dirty="0">
                <a:solidFill>
                  <a:schemeClr val="dk1"/>
                </a:solidFill>
              </a:rPr>
              <a:t>TD3 (Twin </a:t>
            </a:r>
            <a:r>
              <a:rPr lang="de-DE" sz="1300" b="1" dirty="0" err="1">
                <a:solidFill>
                  <a:schemeClr val="dk1"/>
                </a:solidFill>
              </a:rPr>
              <a:t>Delayed</a:t>
            </a:r>
            <a:r>
              <a:rPr lang="de-DE" sz="1300" b="1" dirty="0">
                <a:solidFill>
                  <a:schemeClr val="dk1"/>
                </a:solidFill>
              </a:rPr>
              <a:t> Deep </a:t>
            </a:r>
            <a:r>
              <a:rPr lang="de-DE" sz="1300" b="1" dirty="0" err="1">
                <a:solidFill>
                  <a:schemeClr val="dk1"/>
                </a:solidFill>
              </a:rPr>
              <a:t>Deterministic</a:t>
            </a:r>
            <a:r>
              <a:rPr lang="de-DE" sz="1300" b="1" dirty="0">
                <a:solidFill>
                  <a:schemeClr val="dk1"/>
                </a:solidFill>
              </a:rPr>
              <a:t> Policy Gradient)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 dirty="0">
                <a:solidFill>
                  <a:schemeClr val="dk1"/>
                </a:solidFill>
              </a:rPr>
              <a:t>An </a:t>
            </a:r>
            <a:r>
              <a:rPr lang="de-DE" sz="1300" dirty="0" err="1">
                <a:solidFill>
                  <a:schemeClr val="dk1"/>
                </a:solidFill>
              </a:rPr>
              <a:t>actor-critic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algorithm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 dirty="0" err="1">
                <a:solidFill>
                  <a:schemeClr val="dk1"/>
                </a:solidFill>
              </a:rPr>
              <a:t>Designed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for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continuous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action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spaces</a:t>
            </a:r>
            <a:r>
              <a:rPr lang="de-DE" sz="1300" dirty="0">
                <a:solidFill>
                  <a:schemeClr val="dk1"/>
                </a:solidFill>
              </a:rPr>
              <a:t>, </a:t>
            </a:r>
            <a:r>
              <a:rPr lang="de-DE" sz="1300" dirty="0" err="1">
                <a:solidFill>
                  <a:schemeClr val="dk1"/>
                </a:solidFill>
              </a:rPr>
              <a:t>improving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stability</a:t>
            </a:r>
            <a:r>
              <a:rPr lang="de-DE" sz="1300" dirty="0">
                <a:solidFill>
                  <a:schemeClr val="dk1"/>
                </a:solidFill>
              </a:rPr>
              <a:t> and </a:t>
            </a:r>
            <a:r>
              <a:rPr lang="de-DE" sz="1300" dirty="0" err="1">
                <a:solidFill>
                  <a:schemeClr val="dk1"/>
                </a:solidFill>
              </a:rPr>
              <a:t>performance</a:t>
            </a:r>
            <a:r>
              <a:rPr lang="de-DE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 dirty="0">
                <a:solidFill>
                  <a:schemeClr val="dk1"/>
                </a:solidFill>
              </a:rPr>
              <a:t>Key </a:t>
            </a:r>
            <a:r>
              <a:rPr lang="de-DE" sz="1300" dirty="0" err="1">
                <a:solidFill>
                  <a:schemeClr val="dk1"/>
                </a:solidFill>
              </a:rPr>
              <a:t>improvements</a:t>
            </a:r>
            <a:r>
              <a:rPr lang="de-DE" sz="1300" dirty="0">
                <a:solidFill>
                  <a:schemeClr val="dk1"/>
                </a:solidFill>
              </a:rPr>
              <a:t>: Twin </a:t>
            </a:r>
            <a:r>
              <a:rPr lang="de-DE" sz="1300" dirty="0" err="1">
                <a:solidFill>
                  <a:schemeClr val="dk1"/>
                </a:solidFill>
              </a:rPr>
              <a:t>Critic</a:t>
            </a:r>
            <a:r>
              <a:rPr lang="de-DE" sz="1300" dirty="0">
                <a:solidFill>
                  <a:schemeClr val="dk1"/>
                </a:solidFill>
              </a:rPr>
              <a:t> Networks, </a:t>
            </a:r>
            <a:r>
              <a:rPr lang="de-DE" sz="1300" dirty="0" err="1">
                <a:solidFill>
                  <a:schemeClr val="dk1"/>
                </a:solidFill>
              </a:rPr>
              <a:t>Delayed</a:t>
            </a:r>
            <a:r>
              <a:rPr lang="de-DE" sz="1300" dirty="0">
                <a:solidFill>
                  <a:schemeClr val="dk1"/>
                </a:solidFill>
              </a:rPr>
              <a:t> Policy Updates, Target Policy </a:t>
            </a:r>
            <a:r>
              <a:rPr lang="de-DE" sz="1300" dirty="0" err="1">
                <a:solidFill>
                  <a:schemeClr val="dk1"/>
                </a:solidFill>
              </a:rPr>
              <a:t>Smoothing</a:t>
            </a:r>
            <a:r>
              <a:rPr lang="de-DE" sz="1300" dirty="0">
                <a:solidFill>
                  <a:schemeClr val="dk1"/>
                </a:solidFill>
              </a:rPr>
              <a:t>, Target Networks &amp; </a:t>
            </a:r>
            <a:r>
              <a:rPr lang="de-DE" sz="1300" dirty="0" err="1">
                <a:solidFill>
                  <a:schemeClr val="dk1"/>
                </a:solidFill>
              </a:rPr>
              <a:t>Polyak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Averaging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d96214bb3e_0_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19</a:t>
            </a:fld>
            <a:endParaRPr/>
          </a:p>
        </p:txBody>
      </p:sp>
      <p:sp>
        <p:nvSpPr>
          <p:cNvPr id="504" name="Google Shape;504;g2d96214bb3e_0_3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05" name="Google Shape;505;g2d96214bb3e_0_3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/>
              <a:t>Deep Reinforcement Learning Model Building</a:t>
            </a:r>
            <a:endParaRPr/>
          </a:p>
        </p:txBody>
      </p:sp>
      <p:sp>
        <p:nvSpPr>
          <p:cNvPr id="506" name="Google Shape;506;g2d96214bb3e_0_3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TD3 Algorithm</a:t>
            </a:r>
            <a:endParaRPr/>
          </a:p>
        </p:txBody>
      </p:sp>
      <p:sp>
        <p:nvSpPr>
          <p:cNvPr id="507" name="Google Shape;507;g2d96214bb3e_0_3"/>
          <p:cNvSpPr txBox="1"/>
          <p:nvPr/>
        </p:nvSpPr>
        <p:spPr>
          <a:xfrm>
            <a:off x="443675" y="2870113"/>
            <a:ext cx="8133600" cy="16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Twin Critic Networks: 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>
                <a:solidFill>
                  <a:schemeClr val="dk1"/>
                </a:solidFill>
              </a:rPr>
              <a:t>TD3 uses two separate critic networks to estimate the Q-value. When computing the target Q-value, it takes the </a:t>
            </a:r>
            <a:r>
              <a:rPr lang="de-DE" sz="1300" b="1">
                <a:solidFill>
                  <a:schemeClr val="dk1"/>
                </a:solidFill>
              </a:rPr>
              <a:t>minimum</a:t>
            </a:r>
            <a:r>
              <a:rPr lang="de-DE" sz="1300">
                <a:solidFill>
                  <a:schemeClr val="dk1"/>
                </a:solidFill>
              </a:rPr>
              <a:t> of the two critics’ estimates.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>
                <a:solidFill>
                  <a:schemeClr val="dk1"/>
                </a:solidFill>
              </a:rPr>
              <a:t>This addresses the </a:t>
            </a:r>
            <a:r>
              <a:rPr lang="de-DE" sz="1300" b="1">
                <a:solidFill>
                  <a:schemeClr val="dk1"/>
                </a:solidFill>
              </a:rPr>
              <a:t>overestimation bias</a:t>
            </a:r>
            <a:r>
              <a:rPr lang="de-DE" sz="1300">
                <a:solidFill>
                  <a:schemeClr val="dk1"/>
                </a:solidFill>
              </a:rPr>
              <a:t> that can occur in Q-learning when using the max operator.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  <p:pic>
        <p:nvPicPr>
          <p:cNvPr id="508" name="Google Shape;508;g2d96214bb3e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025" y="2728413"/>
            <a:ext cx="33337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2d96214bb3e_0_3"/>
          <p:cNvSpPr txBox="1"/>
          <p:nvPr/>
        </p:nvSpPr>
        <p:spPr>
          <a:xfrm>
            <a:off x="443675" y="1183725"/>
            <a:ext cx="8013000" cy="14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Target Policy Smoothing: 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>
                <a:solidFill>
                  <a:schemeClr val="dk1"/>
                </a:solidFill>
              </a:rPr>
              <a:t>When computing the target action (for the next state), TD3 adds clipped Gaussian noise to the action output of the target actor.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>
                <a:solidFill>
                  <a:schemeClr val="dk1"/>
                </a:solidFill>
              </a:rPr>
              <a:t>This “smoothing” prevents the policy from exploiting minor errors in the value estimation by </a:t>
            </a:r>
            <a:r>
              <a:rPr lang="de-DE" sz="1300" b="1">
                <a:solidFill>
                  <a:schemeClr val="dk1"/>
                </a:solidFill>
              </a:rPr>
              <a:t>making the target Q-value less sensitive</a:t>
            </a:r>
            <a:r>
              <a:rPr lang="de-DE" sz="1300">
                <a:solidFill>
                  <a:schemeClr val="dk1"/>
                </a:solidFill>
              </a:rPr>
              <a:t> to small changes in the action.</a:t>
            </a:r>
            <a:endParaRPr sz="1300"/>
          </a:p>
        </p:txBody>
      </p:sp>
      <p:pic>
        <p:nvPicPr>
          <p:cNvPr id="510" name="Google Shape;510;g2d96214bb3e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4025" y="4240013"/>
            <a:ext cx="3401742" cy="3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d96214bb3e_0_27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20</a:t>
            </a:fld>
            <a:endParaRPr/>
          </a:p>
        </p:txBody>
      </p:sp>
      <p:sp>
        <p:nvSpPr>
          <p:cNvPr id="516" name="Google Shape;516;g2d96214bb3e_0_27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17" name="Google Shape;517;g2d96214bb3e_0_27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/>
              <a:t>Deep Reinforcement Learning Model Building</a:t>
            </a:r>
            <a:endParaRPr/>
          </a:p>
        </p:txBody>
      </p:sp>
      <p:sp>
        <p:nvSpPr>
          <p:cNvPr id="518" name="Google Shape;518;g2d96214bb3e_0_27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TD3 Algorithm</a:t>
            </a:r>
            <a:endParaRPr/>
          </a:p>
        </p:txBody>
      </p:sp>
      <p:sp>
        <p:nvSpPr>
          <p:cNvPr id="519" name="Google Shape;519;g2d96214bb3e_0_27"/>
          <p:cNvSpPr txBox="1"/>
          <p:nvPr/>
        </p:nvSpPr>
        <p:spPr>
          <a:xfrm>
            <a:off x="606499" y="1248725"/>
            <a:ext cx="8671315" cy="141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300" b="1" dirty="0" err="1">
                <a:solidFill>
                  <a:schemeClr val="dk1"/>
                </a:solidFill>
              </a:rPr>
              <a:t>Delayed</a:t>
            </a:r>
            <a:r>
              <a:rPr lang="de-DE" sz="1300" b="1" dirty="0">
                <a:solidFill>
                  <a:schemeClr val="dk1"/>
                </a:solidFill>
              </a:rPr>
              <a:t> Policy Updates: 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 dirty="0">
                <a:solidFill>
                  <a:schemeClr val="dk1"/>
                </a:solidFill>
              </a:rPr>
              <a:t>The </a:t>
            </a:r>
            <a:r>
              <a:rPr lang="de-DE" sz="1300" dirty="0" err="1">
                <a:solidFill>
                  <a:schemeClr val="dk1"/>
                </a:solidFill>
              </a:rPr>
              <a:t>actor</a:t>
            </a:r>
            <a:r>
              <a:rPr lang="de-DE" sz="1300" dirty="0">
                <a:solidFill>
                  <a:schemeClr val="dk1"/>
                </a:solidFill>
              </a:rPr>
              <a:t> (</a:t>
            </a:r>
            <a:r>
              <a:rPr lang="de-DE" sz="1300" dirty="0" err="1">
                <a:solidFill>
                  <a:schemeClr val="dk1"/>
                </a:solidFill>
              </a:rPr>
              <a:t>policy</a:t>
            </a:r>
            <a:r>
              <a:rPr lang="de-DE" sz="1300" dirty="0">
                <a:solidFill>
                  <a:schemeClr val="dk1"/>
                </a:solidFill>
              </a:rPr>
              <a:t>) network </a:t>
            </a:r>
            <a:r>
              <a:rPr lang="de-DE" sz="1300" dirty="0" err="1">
                <a:solidFill>
                  <a:schemeClr val="dk1"/>
                </a:solidFill>
              </a:rPr>
              <a:t>is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updated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less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frequently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than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critic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networks</a:t>
            </a:r>
            <a:r>
              <a:rPr lang="de-DE" sz="1300" dirty="0">
                <a:solidFill>
                  <a:schemeClr val="dk1"/>
                </a:solidFill>
              </a:rPr>
              <a:t>. 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lang="de-DE" sz="1300" dirty="0">
                <a:solidFill>
                  <a:schemeClr val="dk1"/>
                </a:solidFill>
              </a:rPr>
              <a:t>This </a:t>
            </a:r>
            <a:r>
              <a:rPr lang="de-DE" sz="1300" dirty="0" err="1">
                <a:solidFill>
                  <a:schemeClr val="dk1"/>
                </a:solidFill>
              </a:rPr>
              <a:t>delay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allows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critics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to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stabilize</a:t>
            </a:r>
            <a:r>
              <a:rPr lang="de-DE" sz="1300" b="1" dirty="0">
                <a:solidFill>
                  <a:schemeClr val="dk1"/>
                </a:solidFill>
              </a:rPr>
              <a:t> and </a:t>
            </a:r>
            <a:r>
              <a:rPr lang="de-DE" sz="1300" b="1" dirty="0" err="1">
                <a:solidFill>
                  <a:schemeClr val="dk1"/>
                </a:solidFill>
              </a:rPr>
              <a:t>provide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more</a:t>
            </a:r>
            <a:r>
              <a:rPr lang="de-DE" sz="1300" b="1" dirty="0">
                <a:solidFill>
                  <a:schemeClr val="dk1"/>
                </a:solidFill>
              </a:rPr>
              <a:t> reliable </a:t>
            </a:r>
            <a:r>
              <a:rPr lang="de-DE" sz="1300" b="1" dirty="0" err="1">
                <a:solidFill>
                  <a:schemeClr val="dk1"/>
                </a:solidFill>
              </a:rPr>
              <a:t>gradients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to</a:t>
            </a:r>
            <a:r>
              <a:rPr lang="de-DE" sz="1300" b="1" dirty="0">
                <a:solidFill>
                  <a:schemeClr val="dk1"/>
                </a:solidFill>
              </a:rPr>
              <a:t> update </a:t>
            </a:r>
            <a:r>
              <a:rPr lang="de-DE" sz="1300" b="1" dirty="0" err="1">
                <a:solidFill>
                  <a:schemeClr val="dk1"/>
                </a:solidFill>
              </a:rPr>
              <a:t>the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actor</a:t>
            </a:r>
            <a:endParaRPr lang="de-DE" sz="1300" b="1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endParaRPr sz="1300" b="1" dirty="0"/>
          </a:p>
        </p:txBody>
      </p:sp>
      <p:sp>
        <p:nvSpPr>
          <p:cNvPr id="520" name="Google Shape;520;g2d96214bb3e_0_27"/>
          <p:cNvSpPr txBox="1"/>
          <p:nvPr/>
        </p:nvSpPr>
        <p:spPr>
          <a:xfrm>
            <a:off x="606500" y="2437750"/>
            <a:ext cx="7918200" cy="11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13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b="1" dirty="0"/>
              <a:t>Target Networks &amp; </a:t>
            </a:r>
            <a:r>
              <a:rPr lang="de-DE" sz="1300" b="1" dirty="0" err="1"/>
              <a:t>Polyak</a:t>
            </a:r>
            <a:r>
              <a:rPr lang="de-DE" sz="1300" b="1" dirty="0"/>
              <a:t> </a:t>
            </a:r>
            <a:r>
              <a:rPr lang="de-DE" sz="1300" b="1" dirty="0" err="1"/>
              <a:t>Averaging</a:t>
            </a:r>
            <a:r>
              <a:rPr lang="de-DE" sz="1300" b="1" dirty="0"/>
              <a:t>: </a:t>
            </a:r>
            <a:endParaRPr sz="1300" b="1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de-DE" sz="1300" dirty="0" err="1"/>
              <a:t>Blend</a:t>
            </a:r>
            <a:r>
              <a:rPr lang="de-DE" sz="1300" dirty="0"/>
              <a:t> a </a:t>
            </a:r>
            <a:r>
              <a:rPr lang="de-DE" sz="1300" dirty="0" err="1"/>
              <a:t>small</a:t>
            </a:r>
            <a:r>
              <a:rPr lang="de-DE" sz="1300" dirty="0"/>
              <a:t> </a:t>
            </a:r>
            <a:r>
              <a:rPr lang="de-DE" sz="1300" dirty="0" err="1"/>
              <a:t>fraction</a:t>
            </a:r>
            <a:r>
              <a:rPr lang="de-DE" sz="1300" dirty="0"/>
              <a:t> </a:t>
            </a:r>
            <a:r>
              <a:rPr lang="de-DE" sz="1300" dirty="0" err="1"/>
              <a:t>of</a:t>
            </a:r>
            <a:r>
              <a:rPr lang="de-DE" sz="1300" dirty="0"/>
              <a:t> </a:t>
            </a:r>
            <a:r>
              <a:rPr lang="de-DE" sz="1300" dirty="0" err="1"/>
              <a:t>the</a:t>
            </a:r>
            <a:r>
              <a:rPr lang="de-DE" sz="1300" dirty="0"/>
              <a:t> online network </a:t>
            </a:r>
            <a:r>
              <a:rPr lang="de-DE" sz="1300" dirty="0" err="1"/>
              <a:t>weights</a:t>
            </a:r>
            <a:r>
              <a:rPr lang="de-DE" sz="1300" dirty="0"/>
              <a:t> </a:t>
            </a:r>
            <a:r>
              <a:rPr lang="de-DE" sz="1300" dirty="0" err="1"/>
              <a:t>with</a:t>
            </a:r>
            <a:r>
              <a:rPr lang="de-DE" sz="1300" dirty="0"/>
              <a:t> </a:t>
            </a:r>
            <a:r>
              <a:rPr lang="de-DE" sz="1300" dirty="0" err="1"/>
              <a:t>the</a:t>
            </a:r>
            <a:r>
              <a:rPr lang="de-DE" sz="1300" dirty="0"/>
              <a:t> </a:t>
            </a:r>
            <a:r>
              <a:rPr lang="de-DE" sz="1300" dirty="0" err="1"/>
              <a:t>existing</a:t>
            </a:r>
            <a:r>
              <a:rPr lang="de-DE" sz="1300" dirty="0"/>
              <a:t> </a:t>
            </a:r>
            <a:r>
              <a:rPr lang="de-DE" sz="1300" dirty="0" err="1"/>
              <a:t>target</a:t>
            </a:r>
            <a:r>
              <a:rPr lang="de-DE" sz="1300" dirty="0"/>
              <a:t> </a:t>
            </a:r>
            <a:r>
              <a:rPr lang="de-DE" sz="1300" dirty="0" err="1"/>
              <a:t>weights</a:t>
            </a:r>
            <a:r>
              <a:rPr lang="de-DE" sz="1300" dirty="0"/>
              <a:t>. </a:t>
            </a:r>
            <a:endParaRPr sz="1300"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de-DE" sz="1300" dirty="0" err="1"/>
              <a:t>Polyak</a:t>
            </a:r>
            <a:r>
              <a:rPr lang="de-DE" sz="1300" dirty="0"/>
              <a:t> </a:t>
            </a:r>
            <a:r>
              <a:rPr lang="de-DE" sz="1300" dirty="0" err="1"/>
              <a:t>averaging</a:t>
            </a:r>
            <a:r>
              <a:rPr lang="de-DE" sz="1300" dirty="0"/>
              <a:t> </a:t>
            </a:r>
            <a:r>
              <a:rPr lang="de-DE" sz="1300" dirty="0" err="1"/>
              <a:t>provide</a:t>
            </a:r>
            <a:r>
              <a:rPr lang="de-DE" sz="1300" dirty="0"/>
              <a:t> a </a:t>
            </a:r>
            <a:r>
              <a:rPr lang="de-DE" sz="1300" dirty="0" err="1"/>
              <a:t>stable</a:t>
            </a:r>
            <a:r>
              <a:rPr lang="de-DE" sz="1300" dirty="0"/>
              <a:t> and </a:t>
            </a:r>
            <a:r>
              <a:rPr lang="de-DE" sz="1300" dirty="0" err="1"/>
              <a:t>consistent</a:t>
            </a:r>
            <a:r>
              <a:rPr lang="de-DE" sz="1300" dirty="0"/>
              <a:t> </a:t>
            </a:r>
            <a:r>
              <a:rPr lang="de-DE" sz="1300" dirty="0" err="1"/>
              <a:t>reference</a:t>
            </a:r>
            <a:r>
              <a:rPr lang="de-DE" sz="1300" dirty="0"/>
              <a:t> </a:t>
            </a:r>
            <a:r>
              <a:rPr lang="de-DE" sz="1300" dirty="0" err="1"/>
              <a:t>during</a:t>
            </a:r>
            <a:r>
              <a:rPr lang="de-DE" sz="1300" dirty="0"/>
              <a:t> </a:t>
            </a:r>
            <a:r>
              <a:rPr lang="de-DE" sz="1300" dirty="0" err="1"/>
              <a:t>training</a:t>
            </a:r>
            <a:r>
              <a:rPr lang="de-DE" sz="1300" dirty="0"/>
              <a:t>, </a:t>
            </a:r>
            <a:r>
              <a:rPr lang="de-DE" sz="1300" dirty="0" err="1"/>
              <a:t>ensuring</a:t>
            </a:r>
            <a:r>
              <a:rPr lang="de-DE" sz="1300" dirty="0"/>
              <a:t> </a:t>
            </a:r>
            <a:r>
              <a:rPr lang="de-DE" sz="1300" dirty="0" err="1"/>
              <a:t>that</a:t>
            </a:r>
            <a:r>
              <a:rPr lang="de-DE" sz="1300" dirty="0"/>
              <a:t> </a:t>
            </a:r>
            <a:r>
              <a:rPr lang="de-DE" sz="1300" dirty="0" err="1"/>
              <a:t>the</a:t>
            </a:r>
            <a:r>
              <a:rPr lang="de-DE" sz="1300" dirty="0"/>
              <a:t> </a:t>
            </a:r>
            <a:r>
              <a:rPr lang="de-DE" sz="1300" b="1" dirty="0" err="1"/>
              <a:t>learning</a:t>
            </a:r>
            <a:r>
              <a:rPr lang="de-DE" sz="1300" b="1" dirty="0"/>
              <a:t> </a:t>
            </a:r>
            <a:r>
              <a:rPr lang="de-DE" sz="1300" b="1" dirty="0" err="1"/>
              <a:t>process</a:t>
            </a:r>
            <a:r>
              <a:rPr lang="de-DE" sz="1300" b="1" dirty="0"/>
              <a:t> </a:t>
            </a:r>
            <a:r>
              <a:rPr lang="de-DE" sz="1300" b="1" dirty="0" err="1"/>
              <a:t>is</a:t>
            </a:r>
            <a:r>
              <a:rPr lang="de-DE" sz="1300" b="1" dirty="0"/>
              <a:t> not </a:t>
            </a:r>
            <a:r>
              <a:rPr lang="de-DE" sz="1300" b="1" dirty="0" err="1"/>
              <a:t>disrupted</a:t>
            </a:r>
            <a:r>
              <a:rPr lang="de-DE" sz="1300" b="1" dirty="0"/>
              <a:t> </a:t>
            </a:r>
            <a:r>
              <a:rPr lang="de-DE" sz="1300" b="1" dirty="0" err="1"/>
              <a:t>by</a:t>
            </a:r>
            <a:r>
              <a:rPr lang="de-DE" sz="1300" b="1" dirty="0"/>
              <a:t> </a:t>
            </a:r>
            <a:r>
              <a:rPr lang="de-DE" sz="1300" b="1" dirty="0" err="1"/>
              <a:t>rapidly</a:t>
            </a:r>
            <a:r>
              <a:rPr lang="de-DE" sz="1300" b="1" dirty="0"/>
              <a:t> </a:t>
            </a:r>
            <a:r>
              <a:rPr lang="de-DE" sz="1300" b="1" dirty="0" err="1"/>
              <a:t>changing</a:t>
            </a:r>
            <a:r>
              <a:rPr lang="de-DE" sz="1300" b="1" dirty="0"/>
              <a:t> </a:t>
            </a:r>
            <a:r>
              <a:rPr lang="de-DE" sz="1300" b="1" dirty="0" err="1"/>
              <a:t>targets</a:t>
            </a:r>
            <a:r>
              <a:rPr lang="de-DE" sz="1300" b="1" dirty="0"/>
              <a:t>.</a:t>
            </a:r>
            <a:r>
              <a:rPr lang="de-DE" sz="1300" dirty="0"/>
              <a:t> The update </a:t>
            </a:r>
            <a:r>
              <a:rPr lang="de-DE" sz="1300" dirty="0" err="1"/>
              <a:t>rule</a:t>
            </a:r>
            <a:r>
              <a:rPr lang="de-DE" sz="1300" dirty="0"/>
              <a:t> </a:t>
            </a:r>
            <a:r>
              <a:rPr lang="de-DE" sz="1300" dirty="0" err="1"/>
              <a:t>is</a:t>
            </a:r>
            <a:r>
              <a:rPr lang="de-DE" sz="1300" dirty="0"/>
              <a:t>,</a:t>
            </a:r>
            <a:endParaRPr sz="1300" dirty="0"/>
          </a:p>
        </p:txBody>
      </p:sp>
      <p:pic>
        <p:nvPicPr>
          <p:cNvPr id="521" name="Google Shape;521;g2d96214bb3e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225" y="3813075"/>
            <a:ext cx="2681250" cy="38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d96214bb3e_2_36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21</a:t>
            </a:fld>
            <a:endParaRPr/>
          </a:p>
        </p:txBody>
      </p:sp>
      <p:sp>
        <p:nvSpPr>
          <p:cNvPr id="527" name="Google Shape;527;g2d96214bb3e_2_36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28" name="Google Shape;528;g2d96214bb3e_2_36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/>
              <a:t>Deep Reinforcement Learning Model Building</a:t>
            </a:r>
            <a:endParaRPr/>
          </a:p>
        </p:txBody>
      </p:sp>
      <p:sp>
        <p:nvSpPr>
          <p:cNvPr id="529" name="Google Shape;529;g2d96214bb3e_2_36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Replay Buffer</a:t>
            </a:r>
            <a:endParaRPr/>
          </a:p>
        </p:txBody>
      </p:sp>
      <p:sp>
        <p:nvSpPr>
          <p:cNvPr id="530" name="Google Shape;530;g2d96214bb3e_2_36"/>
          <p:cNvSpPr txBox="1"/>
          <p:nvPr/>
        </p:nvSpPr>
        <p:spPr>
          <a:xfrm>
            <a:off x="604625" y="1283825"/>
            <a:ext cx="7620000" cy="21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Purpose:</a:t>
            </a:r>
            <a:endParaRPr sz="1300" b="1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-DE" sz="1300">
                <a:solidFill>
                  <a:schemeClr val="dk1"/>
                </a:solidFill>
              </a:rPr>
              <a:t>Stores past experiences as tuples: (state, action, reward, next_state, done).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-DE" sz="1300">
                <a:solidFill>
                  <a:schemeClr val="dk1"/>
                </a:solidFill>
              </a:rPr>
              <a:t>Samples mini-batches randomly to break the correlation between sequential observations.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Benefits: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Improved Sample Efficiency:</a:t>
            </a:r>
            <a:r>
              <a:rPr lang="de-DE" sz="1300">
                <a:solidFill>
                  <a:schemeClr val="dk1"/>
                </a:solidFill>
              </a:rPr>
              <a:t> Reuse experiences multiple times.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-DE" sz="1300" b="1">
                <a:solidFill>
                  <a:schemeClr val="dk1"/>
                </a:solidFill>
              </a:rPr>
              <a:t>Stabilized Learning:</a:t>
            </a:r>
            <a:r>
              <a:rPr lang="de-DE" sz="1300">
                <a:solidFill>
                  <a:schemeClr val="dk1"/>
                </a:solidFill>
              </a:rPr>
              <a:t> Random sampling reduces temporal correlations.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d96214bb3e_2_6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22</a:t>
            </a:fld>
            <a:endParaRPr/>
          </a:p>
        </p:txBody>
      </p:sp>
      <p:sp>
        <p:nvSpPr>
          <p:cNvPr id="536" name="Google Shape;536;g2d96214bb3e_2_64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37" name="Google Shape;537;g2d96214bb3e_2_64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/>
              <a:t>Deep Reinforcement Learning Model Building</a:t>
            </a:r>
            <a:endParaRPr/>
          </a:p>
        </p:txBody>
      </p:sp>
      <p:sp>
        <p:nvSpPr>
          <p:cNvPr id="538" name="Google Shape;538;g2d96214bb3e_2_64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TD3 Agent Training Loop </a:t>
            </a:r>
            <a:endParaRPr/>
          </a:p>
        </p:txBody>
      </p:sp>
      <p:sp>
        <p:nvSpPr>
          <p:cNvPr id="539" name="Google Shape;539;g2d96214bb3e_2_64"/>
          <p:cNvSpPr txBox="1"/>
          <p:nvPr/>
        </p:nvSpPr>
        <p:spPr>
          <a:xfrm>
            <a:off x="618950" y="1078075"/>
            <a:ext cx="7677900" cy="4267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300" b="1" dirty="0">
                <a:solidFill>
                  <a:schemeClr val="dk1"/>
                </a:solidFill>
              </a:rPr>
              <a:t>1. </a:t>
            </a:r>
            <a:r>
              <a:rPr lang="de-DE" sz="1300" b="1" dirty="0" err="1">
                <a:solidFill>
                  <a:schemeClr val="dk1"/>
                </a:solidFill>
              </a:rPr>
              <a:t>Interacting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with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the</a:t>
            </a:r>
            <a:r>
              <a:rPr lang="de-DE" sz="1300" b="1" dirty="0">
                <a:solidFill>
                  <a:schemeClr val="dk1"/>
                </a:solidFill>
              </a:rPr>
              <a:t> Environment :</a:t>
            </a:r>
            <a:r>
              <a:rPr lang="de-DE" sz="1300" dirty="0" err="1">
                <a:solidFill>
                  <a:schemeClr val="dk1"/>
                </a:solidFill>
              </a:rPr>
              <a:t>Observes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current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state</a:t>
            </a:r>
            <a:r>
              <a:rPr lang="de-DE" sz="1300" dirty="0">
                <a:solidFill>
                  <a:schemeClr val="dk1"/>
                </a:solidFill>
              </a:rPr>
              <a:t>, </a:t>
            </a:r>
            <a:r>
              <a:rPr lang="de-DE" sz="1300" b="1" dirty="0" err="1">
                <a:solidFill>
                  <a:schemeClr val="dk1"/>
                </a:solidFill>
              </a:rPr>
              <a:t>actor</a:t>
            </a:r>
            <a:r>
              <a:rPr lang="de-DE" sz="1300" b="1" dirty="0">
                <a:solidFill>
                  <a:schemeClr val="dk1"/>
                </a:solidFill>
              </a:rPr>
              <a:t> network </a:t>
            </a:r>
            <a:r>
              <a:rPr lang="de-DE" sz="1300" dirty="0" err="1">
                <a:solidFill>
                  <a:schemeClr val="dk1"/>
                </a:solidFill>
              </a:rPr>
              <a:t>predicting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best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action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first</a:t>
            </a:r>
            <a:r>
              <a:rPr lang="de-DE" sz="1300" dirty="0">
                <a:solidFill>
                  <a:schemeClr val="dk1"/>
                </a:solidFill>
              </a:rPr>
              <a:t>, </a:t>
            </a:r>
            <a:r>
              <a:rPr lang="de-DE" sz="1300" dirty="0" err="1">
                <a:solidFill>
                  <a:schemeClr val="dk1"/>
                </a:solidFill>
              </a:rPr>
              <a:t>returns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next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state</a:t>
            </a:r>
            <a:r>
              <a:rPr lang="de-DE" sz="1300" dirty="0">
                <a:solidFill>
                  <a:schemeClr val="dk1"/>
                </a:solidFill>
              </a:rPr>
              <a:t>, a </a:t>
            </a:r>
            <a:r>
              <a:rPr lang="de-DE" sz="1300" dirty="0" err="1">
                <a:solidFill>
                  <a:schemeClr val="dk1"/>
                </a:solidFill>
              </a:rPr>
              <a:t>reward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300" b="1" dirty="0">
                <a:solidFill>
                  <a:schemeClr val="dk1"/>
                </a:solidFill>
              </a:rPr>
              <a:t>2. </a:t>
            </a:r>
            <a:r>
              <a:rPr lang="de-DE" sz="1300" b="1" dirty="0" err="1">
                <a:solidFill>
                  <a:schemeClr val="dk1"/>
                </a:solidFill>
              </a:rPr>
              <a:t>Storing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Experiences</a:t>
            </a:r>
            <a:r>
              <a:rPr lang="de-DE" sz="1300" b="1" dirty="0">
                <a:solidFill>
                  <a:schemeClr val="dk1"/>
                </a:solidFill>
              </a:rPr>
              <a:t> in a Replay Buffer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300" b="1" dirty="0">
                <a:solidFill>
                  <a:schemeClr val="dk1"/>
                </a:solidFill>
              </a:rPr>
              <a:t>3. </a:t>
            </a:r>
            <a:r>
              <a:rPr lang="de-DE" sz="1300" b="1" dirty="0" err="1">
                <a:solidFill>
                  <a:schemeClr val="dk1"/>
                </a:solidFill>
              </a:rPr>
              <a:t>Critic</a:t>
            </a:r>
            <a:r>
              <a:rPr lang="de-DE" sz="1300" b="1" dirty="0">
                <a:solidFill>
                  <a:schemeClr val="dk1"/>
                </a:solidFill>
              </a:rPr>
              <a:t> Update (Every Training </a:t>
            </a:r>
            <a:r>
              <a:rPr lang="de-DE" sz="1300" b="1" dirty="0" err="1">
                <a:solidFill>
                  <a:schemeClr val="dk1"/>
                </a:solidFill>
              </a:rPr>
              <a:t>Step</a:t>
            </a:r>
            <a:r>
              <a:rPr lang="de-DE" sz="1300" b="1" dirty="0">
                <a:solidFill>
                  <a:schemeClr val="dk1"/>
                </a:solidFill>
              </a:rPr>
              <a:t>)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de-DE" sz="1300" dirty="0">
                <a:solidFill>
                  <a:schemeClr val="dk1"/>
                </a:solidFill>
              </a:rPr>
              <a:t>Sample a Batch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de-DE" sz="1300" dirty="0">
                <a:solidFill>
                  <a:schemeClr val="dk1"/>
                </a:solidFill>
              </a:rPr>
              <a:t>Policy </a:t>
            </a:r>
            <a:r>
              <a:rPr lang="de-DE" sz="1300" dirty="0" err="1">
                <a:solidFill>
                  <a:schemeClr val="dk1"/>
                </a:solidFill>
              </a:rPr>
              <a:t>Smoothing</a:t>
            </a:r>
            <a:r>
              <a:rPr lang="de-DE" sz="1300" dirty="0">
                <a:solidFill>
                  <a:schemeClr val="dk1"/>
                </a:solidFill>
              </a:rPr>
              <a:t> (</a:t>
            </a:r>
            <a:r>
              <a:rPr lang="de-DE" sz="1300" dirty="0" err="1">
                <a:solidFill>
                  <a:schemeClr val="dk1"/>
                </a:solidFill>
              </a:rPr>
              <a:t>for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i="1" dirty="0" err="1">
                <a:solidFill>
                  <a:schemeClr val="dk1"/>
                </a:solidFill>
              </a:rPr>
              <a:t>target</a:t>
            </a:r>
            <a:r>
              <a:rPr lang="de-DE" sz="1300" i="1" dirty="0">
                <a:solidFill>
                  <a:schemeClr val="dk1"/>
                </a:solidFill>
              </a:rPr>
              <a:t> </a:t>
            </a:r>
            <a:r>
              <a:rPr lang="de-DE" sz="1300" i="1" dirty="0" err="1">
                <a:solidFill>
                  <a:schemeClr val="dk1"/>
                </a:solidFill>
              </a:rPr>
              <a:t>action</a:t>
            </a:r>
            <a:r>
              <a:rPr lang="de-DE" sz="1300" dirty="0">
                <a:solidFill>
                  <a:schemeClr val="dk1"/>
                </a:solidFill>
              </a:rPr>
              <a:t>)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de-DE" sz="1300" dirty="0" err="1">
                <a:solidFill>
                  <a:schemeClr val="dk1"/>
                </a:solidFill>
              </a:rPr>
              <a:t>Compute</a:t>
            </a:r>
            <a:r>
              <a:rPr lang="de-DE" sz="1300" dirty="0">
                <a:solidFill>
                  <a:schemeClr val="dk1"/>
                </a:solidFill>
              </a:rPr>
              <a:t> Target Q-Values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de-DE" sz="1300" dirty="0" err="1">
                <a:solidFill>
                  <a:schemeClr val="dk1"/>
                </a:solidFill>
              </a:rPr>
              <a:t>Calculate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Critic</a:t>
            </a:r>
            <a:r>
              <a:rPr lang="de-DE" sz="1300" dirty="0">
                <a:solidFill>
                  <a:schemeClr val="dk1"/>
                </a:solidFill>
              </a:rPr>
              <a:t> Loss &amp; Update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300" b="1" dirty="0">
                <a:solidFill>
                  <a:schemeClr val="dk1"/>
                </a:solidFill>
              </a:rPr>
              <a:t>4. </a:t>
            </a:r>
            <a:r>
              <a:rPr lang="de-DE" sz="1300" b="1" dirty="0" err="1">
                <a:solidFill>
                  <a:schemeClr val="dk1"/>
                </a:solidFill>
              </a:rPr>
              <a:t>Delayed</a:t>
            </a:r>
            <a:r>
              <a:rPr lang="de-DE" sz="1300" b="1" dirty="0">
                <a:solidFill>
                  <a:schemeClr val="dk1"/>
                </a:solidFill>
              </a:rPr>
              <a:t> Actor Update (Every </a:t>
            </a:r>
            <a:r>
              <a:rPr lang="de-DE" sz="1300" b="1" dirty="0" err="1">
                <a:solidFill>
                  <a:schemeClr val="dk1"/>
                </a:solidFill>
              </a:rPr>
              <a:t>Few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Steps</a:t>
            </a:r>
            <a:r>
              <a:rPr lang="de-DE" sz="1300" b="1" dirty="0">
                <a:solidFill>
                  <a:schemeClr val="dk1"/>
                </a:solidFill>
              </a:rPr>
              <a:t>)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-DE" sz="1300" dirty="0" err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policy_freq</a:t>
            </a:r>
            <a:r>
              <a:rPr lang="de-DE" sz="13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== 2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-DE" sz="1300" dirty="0">
                <a:solidFill>
                  <a:schemeClr val="dk1"/>
                </a:solidFill>
              </a:rPr>
              <a:t>Update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Actor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300" b="1" dirty="0">
                <a:solidFill>
                  <a:schemeClr val="dk1"/>
                </a:solidFill>
              </a:rPr>
              <a:t>5. Target Network Updates (</a:t>
            </a:r>
            <a:r>
              <a:rPr lang="de-DE" sz="1300" b="1" dirty="0" err="1">
                <a:solidFill>
                  <a:schemeClr val="dk1"/>
                </a:solidFill>
              </a:rPr>
              <a:t>Polyak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Averaging</a:t>
            </a:r>
            <a:r>
              <a:rPr lang="de-DE" sz="1300" b="1" dirty="0">
                <a:solidFill>
                  <a:schemeClr val="dk1"/>
                </a:solidFill>
              </a:rPr>
              <a:t>)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 dirty="0">
              <a:solidFill>
                <a:schemeClr val="dk1"/>
              </a:solidFill>
            </a:endParaRPr>
          </a:p>
        </p:txBody>
      </p:sp>
      <p:pic>
        <p:nvPicPr>
          <p:cNvPr id="540" name="Google Shape;540;g2d96214bb3e_2_64"/>
          <p:cNvPicPr preferRelativeResize="0"/>
          <p:nvPr/>
        </p:nvPicPr>
        <p:blipFill>
          <a:blip r:embed="rId3">
            <a:alphaModFix/>
          </a:blip>
          <a:srcRect l="5048" t="3271" r="4259"/>
          <a:stretch/>
        </p:blipFill>
        <p:spPr>
          <a:xfrm>
            <a:off x="4457900" y="1709853"/>
            <a:ext cx="4274635" cy="2893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d96214bb3e_2_28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23</a:t>
            </a:fld>
            <a:endParaRPr/>
          </a:p>
        </p:txBody>
      </p:sp>
      <p:sp>
        <p:nvSpPr>
          <p:cNvPr id="546" name="Google Shape;546;g2d96214bb3e_2_284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47" name="Google Shape;547;g2d96214bb3e_2_284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DE"/>
              <a:t>Definition of Agent</a:t>
            </a:r>
            <a:endParaRPr/>
          </a:p>
        </p:txBody>
      </p:sp>
      <p:sp>
        <p:nvSpPr>
          <p:cNvPr id="548" name="Google Shape;548;g2d96214bb3e_2_284"/>
          <p:cNvSpPr txBox="1">
            <a:spLocks noGrp="1"/>
          </p:cNvSpPr>
          <p:nvPr>
            <p:ph type="body" idx="2"/>
          </p:nvPr>
        </p:nvSpPr>
        <p:spPr>
          <a:xfrm>
            <a:off x="311161" y="684430"/>
            <a:ext cx="8508900" cy="3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36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de-DE"/>
              <a:t>TD3 with an Online Learning Algorithm and Off-policy Method</a:t>
            </a:r>
            <a:endParaRPr/>
          </a:p>
        </p:txBody>
      </p:sp>
      <p:sp>
        <p:nvSpPr>
          <p:cNvPr id="549" name="Google Shape;549;g2d96214bb3e_2_284"/>
          <p:cNvSpPr txBox="1"/>
          <p:nvPr/>
        </p:nvSpPr>
        <p:spPr>
          <a:xfrm>
            <a:off x="220150" y="1774013"/>
            <a:ext cx="7922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-DE" sz="1300" dirty="0">
                <a:solidFill>
                  <a:schemeClr val="dk1"/>
                </a:solidFill>
              </a:rPr>
              <a:t>Agent </a:t>
            </a:r>
            <a:r>
              <a:rPr lang="de-DE" sz="1300" dirty="0" err="1">
                <a:solidFill>
                  <a:schemeClr val="dk1"/>
                </a:solidFill>
              </a:rPr>
              <a:t>interacts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with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environment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step-by-step</a:t>
            </a:r>
            <a:r>
              <a:rPr lang="de-DE" sz="1300" dirty="0">
                <a:solidFill>
                  <a:schemeClr val="dk1"/>
                </a:solidFill>
              </a:rPr>
              <a:t> (</a:t>
            </a:r>
            <a:r>
              <a:rPr lang="de-DE" sz="1300" dirty="0" err="1">
                <a:solidFill>
                  <a:schemeClr val="dk1"/>
                </a:solidFill>
              </a:rPr>
              <a:t>using</a:t>
            </a:r>
            <a:r>
              <a:rPr lang="de-DE" sz="1300" dirty="0">
                <a:solidFill>
                  <a:schemeClr val="dk1"/>
                </a:solidFill>
              </a:rPr>
              <a:t> a </a:t>
            </a:r>
            <a:r>
              <a:rPr lang="de-DE" sz="1300" dirty="0" err="1">
                <a:solidFill>
                  <a:schemeClr val="dk1"/>
                </a:solidFill>
              </a:rPr>
              <a:t>windowed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data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representation</a:t>
            </a:r>
            <a:r>
              <a:rPr lang="de-DE" sz="1300" dirty="0">
                <a:solidFill>
                  <a:schemeClr val="dk1"/>
                </a:solidFill>
              </a:rPr>
              <a:t>), </a:t>
            </a:r>
            <a:r>
              <a:rPr lang="de-DE" sz="1300" dirty="0" err="1">
                <a:solidFill>
                  <a:schemeClr val="dk1"/>
                </a:solidFill>
              </a:rPr>
              <a:t>collecting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new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data</a:t>
            </a:r>
            <a:r>
              <a:rPr lang="de-DE" sz="1300" dirty="0">
                <a:solidFill>
                  <a:schemeClr val="dk1"/>
                </a:solidFill>
              </a:rPr>
              <a:t> and </a:t>
            </a:r>
            <a:r>
              <a:rPr lang="de-DE" sz="1300" dirty="0" err="1">
                <a:solidFill>
                  <a:schemeClr val="dk1"/>
                </a:solidFill>
              </a:rPr>
              <a:t>updating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the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policy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during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training</a:t>
            </a:r>
            <a:r>
              <a:rPr lang="de-DE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-DE" sz="1300" dirty="0">
                <a:solidFill>
                  <a:schemeClr val="dk1"/>
                </a:solidFill>
              </a:rPr>
              <a:t>“online RL” in a </a:t>
            </a:r>
            <a:r>
              <a:rPr lang="de-DE" sz="1300" b="1" dirty="0" err="1">
                <a:solidFill>
                  <a:schemeClr val="dk1"/>
                </a:solidFill>
              </a:rPr>
              <a:t>simulated</a:t>
            </a:r>
            <a:r>
              <a:rPr lang="de-DE" sz="1300" b="1" dirty="0">
                <a:solidFill>
                  <a:schemeClr val="dk1"/>
                </a:solidFill>
              </a:rPr>
              <a:t> </a:t>
            </a:r>
            <a:r>
              <a:rPr lang="de-DE" sz="1300" b="1" dirty="0" err="1">
                <a:solidFill>
                  <a:schemeClr val="dk1"/>
                </a:solidFill>
              </a:rPr>
              <a:t>environment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created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by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historical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data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de-DE" sz="1300" dirty="0" err="1">
                <a:solidFill>
                  <a:schemeClr val="dk1"/>
                </a:solidFill>
              </a:rPr>
              <a:t>Collects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experience</a:t>
            </a:r>
            <a:r>
              <a:rPr lang="de-DE" sz="1300" dirty="0">
                <a:solidFill>
                  <a:schemeClr val="dk1"/>
                </a:solidFill>
              </a:rPr>
              <a:t> and </a:t>
            </a:r>
            <a:r>
              <a:rPr lang="de-DE" sz="1300" dirty="0" err="1">
                <a:solidFill>
                  <a:schemeClr val="dk1"/>
                </a:solidFill>
              </a:rPr>
              <a:t>updates</a:t>
            </a:r>
            <a:r>
              <a:rPr lang="de-DE" sz="1300" dirty="0">
                <a:solidFill>
                  <a:schemeClr val="dk1"/>
                </a:solidFill>
              </a:rPr>
              <a:t> </a:t>
            </a:r>
            <a:r>
              <a:rPr lang="de-DE" sz="1300" dirty="0" err="1">
                <a:solidFill>
                  <a:schemeClr val="dk1"/>
                </a:solidFill>
              </a:rPr>
              <a:t>policy</a:t>
            </a:r>
            <a:r>
              <a:rPr lang="de-DE" sz="1300" dirty="0">
                <a:solidFill>
                  <a:schemeClr val="dk1"/>
                </a:solidFill>
              </a:rPr>
              <a:t> in real-time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550" name="Google Shape;550;g2d96214bb3e_2_284"/>
          <p:cNvSpPr txBox="1"/>
          <p:nvPr/>
        </p:nvSpPr>
        <p:spPr>
          <a:xfrm>
            <a:off x="269375" y="1407863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chemeClr val="lt2"/>
                </a:solidFill>
              </a:rPr>
              <a:t>-Online Learning Algorithm</a:t>
            </a:r>
            <a:endParaRPr sz="1200"/>
          </a:p>
        </p:txBody>
      </p:sp>
      <p:sp>
        <p:nvSpPr>
          <p:cNvPr id="551" name="Google Shape;551;g2d96214bb3e_2_284"/>
          <p:cNvSpPr txBox="1"/>
          <p:nvPr/>
        </p:nvSpPr>
        <p:spPr>
          <a:xfrm>
            <a:off x="354775" y="3360150"/>
            <a:ext cx="7402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 dirty="0"/>
              <a:t>TD3 </a:t>
            </a:r>
            <a:r>
              <a:rPr lang="de-DE" sz="1300" dirty="0" err="1"/>
              <a:t>stores</a:t>
            </a:r>
            <a:r>
              <a:rPr lang="de-DE" sz="1300" dirty="0"/>
              <a:t> </a:t>
            </a:r>
            <a:r>
              <a:rPr lang="de-DE" sz="1300" dirty="0" err="1"/>
              <a:t>transitions</a:t>
            </a:r>
            <a:r>
              <a:rPr lang="de-DE" sz="1300" dirty="0"/>
              <a:t> in a </a:t>
            </a:r>
            <a:r>
              <a:rPr lang="de-DE" sz="1300" b="1" dirty="0" err="1"/>
              <a:t>replay</a:t>
            </a:r>
            <a:r>
              <a:rPr lang="de-DE" sz="1300" b="1" dirty="0"/>
              <a:t> </a:t>
            </a:r>
            <a:r>
              <a:rPr lang="de-DE" sz="1300" b="1" dirty="0" err="1"/>
              <a:t>buffer</a:t>
            </a:r>
            <a:r>
              <a:rPr lang="de-DE" sz="1300" dirty="0"/>
              <a:t> and </a:t>
            </a:r>
            <a:r>
              <a:rPr lang="de-DE" sz="1300" dirty="0" err="1"/>
              <a:t>re</a:t>
            </a:r>
            <a:r>
              <a:rPr lang="de-DE" sz="1300" dirty="0"/>
              <a:t>-samples </a:t>
            </a:r>
            <a:r>
              <a:rPr lang="de-DE" sz="1300" dirty="0" err="1"/>
              <a:t>from</a:t>
            </a:r>
            <a:r>
              <a:rPr lang="de-DE" sz="1300" dirty="0"/>
              <a:t> </a:t>
            </a:r>
            <a:r>
              <a:rPr lang="de-DE" sz="1300" dirty="0" err="1"/>
              <a:t>them</a:t>
            </a:r>
            <a:r>
              <a:rPr lang="de-DE" sz="1300" dirty="0"/>
              <a:t> </a:t>
            </a:r>
            <a:r>
              <a:rPr lang="de-DE" sz="1300" dirty="0" err="1"/>
              <a:t>many</a:t>
            </a:r>
            <a:r>
              <a:rPr lang="de-DE" sz="1300" dirty="0"/>
              <a:t> </a:t>
            </a:r>
            <a:r>
              <a:rPr lang="de-DE" sz="1300" dirty="0" err="1"/>
              <a:t>times</a:t>
            </a:r>
            <a:r>
              <a:rPr lang="de-DE" sz="1300" dirty="0"/>
              <a:t> </a:t>
            </a:r>
            <a:r>
              <a:rPr lang="de-DE" sz="1300" dirty="0" err="1"/>
              <a:t>for</a:t>
            </a:r>
            <a:r>
              <a:rPr lang="de-DE" sz="1300" dirty="0"/>
              <a:t> </a:t>
            </a:r>
            <a:r>
              <a:rPr lang="de-DE" sz="1300" dirty="0" err="1"/>
              <a:t>training</a:t>
            </a:r>
            <a:r>
              <a:rPr lang="de-DE" sz="1300" dirty="0"/>
              <a:t>, </a:t>
            </a:r>
            <a:r>
              <a:rPr lang="de-DE" sz="1300" dirty="0" err="1"/>
              <a:t>even</a:t>
            </a:r>
            <a:r>
              <a:rPr lang="de-DE" sz="1300" dirty="0"/>
              <a:t> </a:t>
            </a:r>
            <a:r>
              <a:rPr lang="de-DE" sz="1300" dirty="0" err="1"/>
              <a:t>though</a:t>
            </a:r>
            <a:r>
              <a:rPr lang="de-DE" sz="1300" dirty="0"/>
              <a:t> </a:t>
            </a:r>
            <a:r>
              <a:rPr lang="de-DE" sz="1300" dirty="0" err="1"/>
              <a:t>new</a:t>
            </a:r>
            <a:r>
              <a:rPr lang="de-DE" sz="1300" dirty="0"/>
              <a:t> </a:t>
            </a:r>
            <a:r>
              <a:rPr lang="de-DE" sz="1300" dirty="0" err="1"/>
              <a:t>samples</a:t>
            </a:r>
            <a:r>
              <a:rPr lang="de-DE" sz="1300" dirty="0"/>
              <a:t> </a:t>
            </a:r>
            <a:r>
              <a:rPr lang="de-DE" sz="1300" dirty="0" err="1"/>
              <a:t>may</a:t>
            </a:r>
            <a:r>
              <a:rPr lang="de-DE" sz="1300" dirty="0"/>
              <a:t> </a:t>
            </a:r>
            <a:r>
              <a:rPr lang="de-DE" sz="1300" dirty="0" err="1"/>
              <a:t>come</a:t>
            </a:r>
            <a:r>
              <a:rPr lang="de-DE" sz="1300" dirty="0"/>
              <a:t> </a:t>
            </a:r>
            <a:r>
              <a:rPr lang="de-DE" sz="1300" dirty="0" err="1"/>
              <a:t>from</a:t>
            </a:r>
            <a:r>
              <a:rPr lang="de-DE" sz="1300" dirty="0"/>
              <a:t> a </a:t>
            </a:r>
            <a:r>
              <a:rPr lang="de-DE" sz="1300" dirty="0" err="1"/>
              <a:t>slightly</a:t>
            </a:r>
            <a:r>
              <a:rPr lang="de-DE" sz="1300" dirty="0"/>
              <a:t> </a:t>
            </a:r>
            <a:r>
              <a:rPr lang="de-DE" sz="1300" dirty="0" err="1"/>
              <a:t>updated</a:t>
            </a:r>
            <a:r>
              <a:rPr lang="de-DE" sz="1300" dirty="0"/>
              <a:t> </a:t>
            </a:r>
            <a:r>
              <a:rPr lang="de-DE" sz="1300" dirty="0" err="1"/>
              <a:t>policy</a:t>
            </a:r>
            <a:r>
              <a:rPr lang="de-DE" sz="1300" dirty="0"/>
              <a:t>. </a:t>
            </a:r>
            <a:endParaRPr sz="1300" dirty="0"/>
          </a:p>
        </p:txBody>
      </p:sp>
      <p:sp>
        <p:nvSpPr>
          <p:cNvPr id="552" name="Google Shape;552;g2d96214bb3e_2_284"/>
          <p:cNvSpPr txBox="1"/>
          <p:nvPr/>
        </p:nvSpPr>
        <p:spPr>
          <a:xfrm>
            <a:off x="354775" y="3004238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dirty="0">
                <a:solidFill>
                  <a:schemeClr val="lt2"/>
                </a:solidFill>
              </a:rPr>
              <a:t>-Off-</a:t>
            </a:r>
            <a:r>
              <a:rPr lang="de-DE" sz="1600" dirty="0" err="1">
                <a:solidFill>
                  <a:schemeClr val="lt2"/>
                </a:solidFill>
              </a:rPr>
              <a:t>policy</a:t>
            </a:r>
            <a:r>
              <a:rPr lang="de-DE" sz="1600" dirty="0">
                <a:solidFill>
                  <a:schemeClr val="lt2"/>
                </a:solidFill>
              </a:rPr>
              <a:t> Method</a:t>
            </a:r>
            <a:endParaRPr sz="1600" dirty="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>
          <a:extLst>
            <a:ext uri="{FF2B5EF4-FFF2-40B4-BE49-F238E27FC236}">
              <a16:creationId xmlns:a16="http://schemas.microsoft.com/office/drawing/2014/main" id="{19A523C4-50E6-F6B8-D0E5-692B74BB6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">
            <a:extLst>
              <a:ext uri="{FF2B5EF4-FFF2-40B4-BE49-F238E27FC236}">
                <a16:creationId xmlns:a16="http://schemas.microsoft.com/office/drawing/2014/main" id="{A8F55316-FFDA-A75A-A461-12EB8C0AD9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80" y="1860270"/>
            <a:ext cx="406142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b="1" dirty="0" err="1"/>
              <a:t>Result</a:t>
            </a:r>
            <a:br>
              <a:rPr lang="de-DE" sz="4000" b="1" dirty="0"/>
            </a:br>
            <a:r>
              <a:rPr lang="de-DE" sz="4000" b="1" dirty="0"/>
              <a:t>Analysis</a:t>
            </a:r>
          </a:p>
        </p:txBody>
      </p:sp>
      <p:sp>
        <p:nvSpPr>
          <p:cNvPr id="345" name="Google Shape;345;p4">
            <a:extLst>
              <a:ext uri="{FF2B5EF4-FFF2-40B4-BE49-F238E27FC236}">
                <a16:creationId xmlns:a16="http://schemas.microsoft.com/office/drawing/2014/main" id="{269D8131-C2D5-F52A-2912-08CF223A9E99}"/>
              </a:ext>
            </a:extLst>
          </p:cNvPr>
          <p:cNvSpPr txBox="1">
            <a:spLocks noGrp="1"/>
          </p:cNvSpPr>
          <p:nvPr>
            <p:ph type="ftr" idx="4294967295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Deep Reinforcement Learning | Tutor: </a:t>
            </a:r>
            <a:r>
              <a:rPr lang="de-DE" dirty="0" err="1"/>
              <a:t>Maotong</a:t>
            </a:r>
            <a:r>
              <a:rPr lang="de-DE" dirty="0"/>
              <a:t> Sun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0718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d96214bb3e_2_29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25</a:t>
            </a:fld>
            <a:endParaRPr/>
          </a:p>
        </p:txBody>
      </p:sp>
      <p:sp>
        <p:nvSpPr>
          <p:cNvPr id="558" name="Google Shape;558;g2d96214bb3e_2_29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59" name="Google Shape;559;g2d96214bb3e_2_29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560" name="Google Shape;560;g2d96214bb3e_2_29"/>
          <p:cNvSpPr txBox="1"/>
          <p:nvPr/>
        </p:nvSpPr>
        <p:spPr>
          <a:xfrm>
            <a:off x="225600" y="723275"/>
            <a:ext cx="8508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First, we adjusted the learning rate and number of episodes to balance exploration and exploitation, ensuring more stable training, better convergence, and improved generalization in portfolio performance.</a:t>
            </a:r>
            <a:endParaRPr sz="1200"/>
          </a:p>
        </p:txBody>
      </p:sp>
      <p:sp>
        <p:nvSpPr>
          <p:cNvPr id="561" name="Google Shape;561;g2d96214bb3e_2_29"/>
          <p:cNvSpPr/>
          <p:nvPr/>
        </p:nvSpPr>
        <p:spPr>
          <a:xfrm>
            <a:off x="269250" y="1417725"/>
            <a:ext cx="2796000" cy="27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/>
              <a:t>Learning Rate: 1e-4 &amp; Episode: 100</a:t>
            </a:r>
            <a:endParaRPr sz="1000"/>
          </a:p>
        </p:txBody>
      </p:sp>
      <p:sp>
        <p:nvSpPr>
          <p:cNvPr id="562" name="Google Shape;562;g2d96214bb3e_2_29"/>
          <p:cNvSpPr/>
          <p:nvPr/>
        </p:nvSpPr>
        <p:spPr>
          <a:xfrm>
            <a:off x="3467463" y="1417725"/>
            <a:ext cx="2796000" cy="27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/>
              <a:t>Learning Rate: 5e-5 &amp; Episode: 200</a:t>
            </a:r>
            <a:endParaRPr sz="1000"/>
          </a:p>
        </p:txBody>
      </p:sp>
      <p:sp>
        <p:nvSpPr>
          <p:cNvPr id="563" name="Google Shape;563;g2d96214bb3e_2_29"/>
          <p:cNvSpPr txBox="1"/>
          <p:nvPr/>
        </p:nvSpPr>
        <p:spPr>
          <a:xfrm>
            <a:off x="6854100" y="2535475"/>
            <a:ext cx="22899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Smooth and stable throughout training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Converges towards a flat line</a:t>
            </a:r>
            <a:endParaRPr sz="1200"/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Minimal fluctuations</a:t>
            </a:r>
            <a:endParaRPr sz="1200"/>
          </a:p>
        </p:txBody>
      </p:sp>
      <p:pic>
        <p:nvPicPr>
          <p:cNvPr id="564" name="Google Shape;564;g2d96214bb3e_2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650" y="2997175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g2d96214bb3e_2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225025"/>
            <a:ext cx="3040525" cy="2689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g2d96214bb3e_2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4625" y="2201388"/>
            <a:ext cx="3152025" cy="273699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2d96214bb3e_2_29"/>
          <p:cNvSpPr txBox="1"/>
          <p:nvPr/>
        </p:nvSpPr>
        <p:spPr>
          <a:xfrm>
            <a:off x="288201" y="1767825"/>
            <a:ext cx="279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/>
              <a:t>Initial Cumulative Return: 33%</a:t>
            </a:r>
            <a:endParaRPr sz="1300"/>
          </a:p>
        </p:txBody>
      </p:sp>
      <p:pic>
        <p:nvPicPr>
          <p:cNvPr id="568" name="Google Shape;568;g2d96214bb3e_2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65250" y="1767825"/>
            <a:ext cx="40020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g2d96214bb3e_2_29"/>
          <p:cNvSpPr txBox="1"/>
          <p:nvPr/>
        </p:nvSpPr>
        <p:spPr>
          <a:xfrm>
            <a:off x="3598888" y="1754050"/>
            <a:ext cx="25236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300"/>
              <a:t>New Cumulative Return: 37%</a:t>
            </a:r>
            <a:endParaRPr sz="1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37e78d7b63_12_44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26</a:t>
            </a:fld>
            <a:endParaRPr/>
          </a:p>
        </p:txBody>
      </p:sp>
      <p:sp>
        <p:nvSpPr>
          <p:cNvPr id="575" name="Google Shape;575;g337e78d7b63_12_44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76" name="Google Shape;576;g337e78d7b63_12_44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Conclusion</a:t>
            </a:r>
            <a:endParaRPr dirty="0"/>
          </a:p>
        </p:txBody>
      </p:sp>
      <p:sp>
        <p:nvSpPr>
          <p:cNvPr id="577" name="Google Shape;577;g337e78d7b63_12_44"/>
          <p:cNvSpPr txBox="1"/>
          <p:nvPr/>
        </p:nvSpPr>
        <p:spPr>
          <a:xfrm>
            <a:off x="225600" y="723275"/>
            <a:ext cx="8508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200">
                <a:solidFill>
                  <a:schemeClr val="dk1"/>
                </a:solidFill>
              </a:rPr>
              <a:t>TD3-MLP model achieves higher cumulative and annualized return compared to the TD3-LSTM version.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78" name="Google Shape;578;g337e78d7b63_12_44"/>
          <p:cNvSpPr/>
          <p:nvPr/>
        </p:nvSpPr>
        <p:spPr>
          <a:xfrm>
            <a:off x="269250" y="1189125"/>
            <a:ext cx="2796000" cy="27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1"/>
              <a:t>TD3-LSTM</a:t>
            </a:r>
            <a:endParaRPr sz="1100" b="1"/>
          </a:p>
        </p:txBody>
      </p:sp>
      <p:sp>
        <p:nvSpPr>
          <p:cNvPr id="579" name="Google Shape;579;g337e78d7b63_12_44"/>
          <p:cNvSpPr/>
          <p:nvPr/>
        </p:nvSpPr>
        <p:spPr>
          <a:xfrm>
            <a:off x="3467463" y="1189125"/>
            <a:ext cx="2796000" cy="273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100" b="1"/>
              <a:t>TD3-MLP</a:t>
            </a:r>
            <a:endParaRPr sz="1100" b="1"/>
          </a:p>
        </p:txBody>
      </p:sp>
      <p:pic>
        <p:nvPicPr>
          <p:cNvPr id="580" name="Google Shape;580;g337e78d7b63_12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600" y="1604899"/>
            <a:ext cx="3312450" cy="28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g337e78d7b63_12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600" y="1647175"/>
            <a:ext cx="3121503" cy="276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g337e78d7b63_12_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6294" y="1886975"/>
            <a:ext cx="2545306" cy="200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d96214bb3e_4_9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27</a:t>
            </a:fld>
            <a:endParaRPr/>
          </a:p>
        </p:txBody>
      </p:sp>
      <p:sp>
        <p:nvSpPr>
          <p:cNvPr id="588" name="Google Shape;588;g2d96214bb3e_4_91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589" name="Google Shape;589;g2d96214bb3e_4_91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590" name="Google Shape;590;g2d96214bb3e_4_91"/>
          <p:cNvSpPr txBox="1"/>
          <p:nvPr/>
        </p:nvSpPr>
        <p:spPr>
          <a:xfrm>
            <a:off x="246075" y="802175"/>
            <a:ext cx="869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1"/>
                </a:solidFill>
              </a:rPr>
              <a:t>Our DRL (TD3 with MLP) model outperformed traditional benchmarks like the Minimum Variance and Maximum Sharpe Ratio strategies, achieving higher cumulative returns and better risk-adjusted metrics for S&amp;P100 index within complex, uncertain, dynamic, and large-scale financial trading environments. 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91" name="Google Shape;591;g2d96214bb3e_4_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1600" y="2489600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g2d96214bb3e_4_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" y="1798575"/>
            <a:ext cx="4754279" cy="203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g2d96214bb3e_4_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4615" y="1798574"/>
            <a:ext cx="3598759" cy="211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d96214bb3e_4_3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28</a:t>
            </a:fld>
            <a:endParaRPr/>
          </a:p>
        </p:txBody>
      </p:sp>
      <p:sp>
        <p:nvSpPr>
          <p:cNvPr id="599" name="Google Shape;599;g2d96214bb3e_4_31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600" name="Google Shape;600;g2d96214bb3e_4_31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601" name="Google Shape;601;g2d96214bb3e_4_31"/>
          <p:cNvSpPr txBox="1"/>
          <p:nvPr/>
        </p:nvSpPr>
        <p:spPr>
          <a:xfrm>
            <a:off x="311150" y="731788"/>
            <a:ext cx="821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/>
              <a:t>Furthermore, higher transaction costs lead to reduced trading, lowering portfolio returns. At a 0.05 cost rate, the learning-based portfolio underperformed significantly compared to the 0.001 scenario.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pic>
        <p:nvPicPr>
          <p:cNvPr id="602" name="Google Shape;602;g2d96214bb3e_4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362" y="2457385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g2d96214bb3e_4_31"/>
          <p:cNvPicPr preferRelativeResize="0"/>
          <p:nvPr/>
        </p:nvPicPr>
        <p:blipFill rotWithShape="1">
          <a:blip r:embed="rId4">
            <a:alphaModFix/>
          </a:blip>
          <a:srcRect r="6584"/>
          <a:stretch/>
        </p:blipFill>
        <p:spPr>
          <a:xfrm>
            <a:off x="82875" y="1569625"/>
            <a:ext cx="4489125" cy="24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g2d96214bb3e_4_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6825" y="1623088"/>
            <a:ext cx="3694774" cy="2222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d96214bb3e_4_53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29</a:t>
            </a:fld>
            <a:endParaRPr/>
          </a:p>
        </p:txBody>
      </p:sp>
      <p:sp>
        <p:nvSpPr>
          <p:cNvPr id="610" name="Google Shape;610;g2d96214bb3e_4_53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611" name="Google Shape;611;g2d96214bb3e_4_53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612" name="Google Shape;612;g2d96214bb3e_4_53"/>
          <p:cNvSpPr txBox="1"/>
          <p:nvPr/>
        </p:nvSpPr>
        <p:spPr>
          <a:xfrm>
            <a:off x="311150" y="735388"/>
            <a:ext cx="8212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1"/>
                </a:solidFill>
              </a:rPr>
              <a:t>Finally, increasing the beta parameter, representing risk aversion, led to more stable portfolios but at the cost of lower returns.</a:t>
            </a:r>
            <a:endParaRPr sz="1200"/>
          </a:p>
        </p:txBody>
      </p:sp>
      <p:pic>
        <p:nvPicPr>
          <p:cNvPr id="613" name="Google Shape;613;g2d96214bb3e_4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225" y="2489600"/>
            <a:ext cx="554100" cy="55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g2d96214bb3e_4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75" y="1558176"/>
            <a:ext cx="4632599" cy="254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g2d96214bb3e_4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1525" y="1822642"/>
            <a:ext cx="3776274" cy="1894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d96214bb3e_4_68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30</a:t>
            </a:fld>
            <a:endParaRPr/>
          </a:p>
        </p:txBody>
      </p:sp>
      <p:sp>
        <p:nvSpPr>
          <p:cNvPr id="621" name="Google Shape;621;g2d96214bb3e_4_68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622" name="Google Shape;622;g2d96214bb3e_4_68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Learnings and Future Directions</a:t>
            </a:r>
            <a:endParaRPr/>
          </a:p>
        </p:txBody>
      </p:sp>
      <p:sp>
        <p:nvSpPr>
          <p:cNvPr id="623" name="Google Shape;623;g2d96214bb3e_4_68"/>
          <p:cNvSpPr txBox="1"/>
          <p:nvPr/>
        </p:nvSpPr>
        <p:spPr>
          <a:xfrm>
            <a:off x="374400" y="914900"/>
            <a:ext cx="8395200" cy="37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1"/>
                </a:solidFill>
              </a:rPr>
              <a:t>Model's performance is highly sensitive to hyperparameters, including the discount factor, learning rate, episodes size, etc.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1"/>
                </a:solidFill>
              </a:rPr>
              <a:t>Adjusting the risk aversion and transaction cost parameters revealed a clear trade-off.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1"/>
                </a:solidFill>
              </a:rPr>
              <a:t>We believe that DRL-based portfolio optimization models show promising results. 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1"/>
                </a:solidFill>
              </a:rPr>
              <a:t>However, there are some areas for further exploration: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>
                <a:solidFill>
                  <a:schemeClr val="dk1"/>
                </a:solidFill>
              </a:rPr>
              <a:t>Expanding training datasets to include diverse market conditions, including recessions and bull markets,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>
                <a:solidFill>
                  <a:schemeClr val="dk1"/>
                </a:solidFill>
              </a:rPr>
              <a:t>Extending the framework to include alternative assets, such as cryptocurrencies, commodities, forex markets to improve diversification and robustness,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>
                <a:solidFill>
                  <a:schemeClr val="dk1"/>
                </a:solidFill>
              </a:rPr>
              <a:t>Expanding the model to high-dimensional portfolios with thousands of assets while maintaining computational efficiency is another promising direction,</a:t>
            </a:r>
            <a:endParaRPr sz="12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-DE" sz="1200">
                <a:solidFill>
                  <a:schemeClr val="dk1"/>
                </a:solidFill>
              </a:rPr>
              <a:t>Enhancing the DRL framework with automated risk management features, such as dynamic stop-loss and rebalancing rules, can protect portfolios during market downturns,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>
                <a:solidFill>
                  <a:schemeClr val="dk1"/>
                </a:solidFill>
              </a:rPr>
              <a:t>Implementing a dynamic risk aversion parameter (β) that adjusts based on market conditions.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"/>
          <p:cNvSpPr txBox="1">
            <a:spLocks noGrp="1"/>
          </p:cNvSpPr>
          <p:nvPr>
            <p:ph type="title"/>
          </p:nvPr>
        </p:nvSpPr>
        <p:spPr>
          <a:xfrm>
            <a:off x="317550" y="1584150"/>
            <a:ext cx="3776100" cy="19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b="1" dirty="0" err="1"/>
              <a:t>Thank</a:t>
            </a:r>
            <a:r>
              <a:rPr lang="de-DE" sz="4000" b="1" dirty="0"/>
              <a:t> </a:t>
            </a:r>
            <a:r>
              <a:rPr lang="de-DE" sz="4000" b="1" dirty="0" err="1"/>
              <a:t>you</a:t>
            </a:r>
            <a:r>
              <a:rPr lang="de-DE" sz="4000" b="1" dirty="0"/>
              <a:t> </a:t>
            </a:r>
            <a:r>
              <a:rPr lang="de-DE" sz="4000" b="1" dirty="0" err="1"/>
              <a:t>for</a:t>
            </a:r>
            <a:endParaRPr sz="4000" b="1" dirty="0"/>
          </a:p>
          <a:p>
            <a:pPr marL="0" lvl="0" indent="0" algn="ct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000" b="1" dirty="0"/>
              <a:t>Listening</a:t>
            </a:r>
            <a:endParaRPr sz="40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3826116eb5_0_10"/>
          <p:cNvSpPr txBox="1">
            <a:spLocks noGrp="1"/>
          </p:cNvSpPr>
          <p:nvPr>
            <p:ph type="title"/>
          </p:nvPr>
        </p:nvSpPr>
        <p:spPr>
          <a:xfrm>
            <a:off x="317550" y="1584150"/>
            <a:ext cx="3776100" cy="19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6000" b="1" dirty="0"/>
              <a:t>Q &amp; A </a:t>
            </a:r>
            <a:endParaRPr sz="6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d96214bb3e_4_21"/>
          <p:cNvSpPr txBox="1">
            <a:spLocks noGrp="1"/>
          </p:cNvSpPr>
          <p:nvPr>
            <p:ph type="sldNum" idx="12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33</a:t>
            </a:fld>
            <a:endParaRPr/>
          </a:p>
        </p:txBody>
      </p:sp>
      <p:sp>
        <p:nvSpPr>
          <p:cNvPr id="639" name="Google Shape;639;g2d96214bb3e_4_21"/>
          <p:cNvSpPr txBox="1">
            <a:spLocks noGrp="1"/>
          </p:cNvSpPr>
          <p:nvPr>
            <p:ph type="ftr" idx="11"/>
          </p:nvPr>
        </p:nvSpPr>
        <p:spPr>
          <a:xfrm>
            <a:off x="141887" y="4854960"/>
            <a:ext cx="6464400" cy="2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Presentation for Deep Reinforcement Learning | Tutor: Maotong Sun</a:t>
            </a:r>
            <a:endParaRPr/>
          </a:p>
        </p:txBody>
      </p:sp>
      <p:sp>
        <p:nvSpPr>
          <p:cNvPr id="640" name="Google Shape;640;g2d96214bb3e_4_21"/>
          <p:cNvSpPr txBox="1">
            <a:spLocks noGrp="1"/>
          </p:cNvSpPr>
          <p:nvPr>
            <p:ph type="title"/>
          </p:nvPr>
        </p:nvSpPr>
        <p:spPr>
          <a:xfrm>
            <a:off x="311162" y="293460"/>
            <a:ext cx="8508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References</a:t>
            </a:r>
            <a:endParaRPr/>
          </a:p>
        </p:txBody>
      </p:sp>
      <p:sp>
        <p:nvSpPr>
          <p:cNvPr id="641" name="Google Shape;641;g2d96214bb3e_4_21"/>
          <p:cNvSpPr txBox="1"/>
          <p:nvPr/>
        </p:nvSpPr>
        <p:spPr>
          <a:xfrm>
            <a:off x="311150" y="832338"/>
            <a:ext cx="8212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rgbClr val="222222"/>
                </a:solidFill>
                <a:highlight>
                  <a:srgbClr val="FFFFFF"/>
                </a:highlight>
              </a:rPr>
              <a:t>Jiang, Y., Olmo, J., &amp; Atwi, M. (2024). Deep reinforcement learning for portfolio selection. </a:t>
            </a:r>
            <a:r>
              <a:rPr lang="de-DE" sz="1200" i="1">
                <a:solidFill>
                  <a:srgbClr val="222222"/>
                </a:solidFill>
                <a:highlight>
                  <a:srgbClr val="FFFFFF"/>
                </a:highlight>
              </a:rPr>
              <a:t>Global Finance Journal</a:t>
            </a:r>
            <a:r>
              <a:rPr lang="de-DE" sz="12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lang="de-DE" sz="1200" i="1">
                <a:solidFill>
                  <a:srgbClr val="222222"/>
                </a:solidFill>
                <a:highlight>
                  <a:srgbClr val="FFFFFF"/>
                </a:highlight>
              </a:rPr>
              <a:t>62</a:t>
            </a:r>
            <a:r>
              <a:rPr lang="de-DE" sz="1200">
                <a:solidFill>
                  <a:srgbClr val="222222"/>
                </a:solidFill>
                <a:highlight>
                  <a:srgbClr val="FFFFFF"/>
                </a:highlight>
              </a:rPr>
              <a:t>, 101016.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el 1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itel 2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nhalt">
  <a:themeElements>
    <a:clrScheme name="TUM">
      <a:dk1>
        <a:srgbClr val="000000"/>
      </a:dk1>
      <a:lt1>
        <a:srgbClr val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2298</Words>
  <Application>Microsoft Office PowerPoint</Application>
  <PresentationFormat>On-screen Show (16:9)</PresentationFormat>
  <Paragraphs>329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Roboto Mono</vt:lpstr>
      <vt:lpstr>Noto Sans Symbols</vt:lpstr>
      <vt:lpstr>Cambria Math</vt:lpstr>
      <vt:lpstr>Arial</vt:lpstr>
      <vt:lpstr>Calibri</vt:lpstr>
      <vt:lpstr>Play</vt:lpstr>
      <vt:lpstr>Titel 3</vt:lpstr>
      <vt:lpstr>Titel 1</vt:lpstr>
      <vt:lpstr>Titel 2</vt:lpstr>
      <vt:lpstr>Inhalt</vt:lpstr>
      <vt:lpstr>Office Theme</vt:lpstr>
      <vt:lpstr>Office 主题​​</vt:lpstr>
      <vt:lpstr>TD3 Algorithm for Portfolio Management </vt:lpstr>
      <vt:lpstr>Content</vt:lpstr>
      <vt:lpstr>Introduction</vt:lpstr>
      <vt:lpstr>Introduction</vt:lpstr>
      <vt:lpstr>Methodology</vt:lpstr>
      <vt:lpstr>PowerPoint Presentation</vt:lpstr>
      <vt:lpstr>Problem Definition</vt:lpstr>
      <vt:lpstr>PowerPoint Presentation</vt:lpstr>
      <vt:lpstr>Deep Reinforcement Learning Problem Definition</vt:lpstr>
      <vt:lpstr>PowerPoint Presentation</vt:lpstr>
      <vt:lpstr>Deep Reinforcement Learning Problem Definition</vt:lpstr>
      <vt:lpstr>Deep Reinforcement Learning Problem Definition</vt:lpstr>
      <vt:lpstr>Deep Reinforcement Learning Problem Definition</vt:lpstr>
      <vt:lpstr>PowerPoint Presentation</vt:lpstr>
      <vt:lpstr>Deep Reinforcement Learning Problem Definition</vt:lpstr>
      <vt:lpstr>Model Building</vt:lpstr>
      <vt:lpstr>Baseline Methods to Compare with DRL</vt:lpstr>
      <vt:lpstr>Deep Reinforcement Learning Model Building</vt:lpstr>
      <vt:lpstr>Deep Reinforcement Learning Model Building</vt:lpstr>
      <vt:lpstr>Deep Reinforcement Learning Model Building</vt:lpstr>
      <vt:lpstr>Deep Reinforcement Learning Model Building</vt:lpstr>
      <vt:lpstr>Deep Reinforcement Learning Model Building</vt:lpstr>
      <vt:lpstr>Definition of Agent</vt:lpstr>
      <vt:lpstr>Result Analysis</vt:lpstr>
      <vt:lpstr>Conclusion</vt:lpstr>
      <vt:lpstr>Conclusion</vt:lpstr>
      <vt:lpstr>Conclusion</vt:lpstr>
      <vt:lpstr>Conclusion</vt:lpstr>
      <vt:lpstr>Conclusion</vt:lpstr>
      <vt:lpstr>Learnings and Future Directions</vt:lpstr>
      <vt:lpstr>Thank you for Listening</vt:lpstr>
      <vt:lpstr>Q &amp; A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Wei Tian</dc:creator>
  <cp:lastModifiedBy>Kexin Zhao</cp:lastModifiedBy>
  <cp:revision>4</cp:revision>
  <dcterms:created xsi:type="dcterms:W3CDTF">2020-10-03T23:03:33Z</dcterms:created>
  <dcterms:modified xsi:type="dcterms:W3CDTF">2025-02-25T10:34:34Z</dcterms:modified>
</cp:coreProperties>
</file>